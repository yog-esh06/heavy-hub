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Arimo" charset="1" panose="020B0604020202020204"/>
      <p:regular r:id="rId25"/>
    </p:embeddedFont>
    <p:embeddedFont>
      <p:font typeface="IBM Plex Sans Italics" charset="1" panose="020B0503050203000203"/>
      <p:regular r:id="rId26"/>
    </p:embeddedFont>
    <p:embeddedFont>
      <p:font typeface="IBM Plex Sans" charset="1" panose="020B0503050203000203"/>
      <p:regular r:id="rId27"/>
    </p:embeddedFont>
    <p:embeddedFont>
      <p:font typeface="IBM Plex Sans Bold" charset="1" panose="020B0803050203000203"/>
      <p:regular r:id="rId28"/>
    </p:embeddedFont>
    <p:embeddedFont>
      <p:font typeface="Arimo Bold" charset="1" panose="020B0704020202020204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notesSlides/notesSlide2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3.xml" Type="http://schemas.openxmlformats.org/officeDocument/2006/relationships/notesSlide"/><Relationship Id="rId31" Target="notesSlides/notesSlide4.xml" Type="http://schemas.openxmlformats.org/officeDocument/2006/relationships/notesSlide"/><Relationship Id="rId32" Target="notesSlides/notesSlide5.xml" Type="http://schemas.openxmlformats.org/officeDocument/2006/relationships/notesSlide"/><Relationship Id="rId33" Target="notesSlides/notesSlide6.xml" Type="http://schemas.openxmlformats.org/officeDocument/2006/relationships/notesSlide"/><Relationship Id="rId34" Target="notesSlides/notesSlide7.xml" Type="http://schemas.openxmlformats.org/officeDocument/2006/relationships/notesSlide"/><Relationship Id="rId35" Target="notesSlides/notesSlide8.xml" Type="http://schemas.openxmlformats.org/officeDocument/2006/relationships/notesSlide"/><Relationship Id="rId36" Target="notesSlides/notesSlide9.xml" Type="http://schemas.openxmlformats.org/officeDocument/2006/relationships/notesSlide"/><Relationship Id="rId37" Target="notesSlides/notesSlide10.xml" Type="http://schemas.openxmlformats.org/officeDocument/2006/relationships/notesSlide"/><Relationship Id="rId38" Target="fonts/font38.fntdata" Type="http://schemas.openxmlformats.org/officeDocument/2006/relationships/font"/><Relationship Id="rId39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2.xml" Type="http://schemas.openxmlformats.org/officeDocument/2006/relationships/notesSlide"/><Relationship Id="rId41" Target="notesSlides/notesSlide13.xml" Type="http://schemas.openxmlformats.org/officeDocument/2006/relationships/notesSlide"/><Relationship Id="rId42" Target="notesSlides/notesSlide14.xml" Type="http://schemas.openxmlformats.org/officeDocument/2006/relationships/notesSlide"/><Relationship Id="rId43" Target="notesSlides/notesSlide15.xml" Type="http://schemas.openxmlformats.org/officeDocument/2006/relationships/notesSlide"/><Relationship Id="rId44" Target="notesSlides/notesSlide16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svg" Type="http://schemas.openxmlformats.org/officeDocument/2006/relationships/image"/><Relationship Id="rId11" Target="../media/image19.png" Type="http://schemas.openxmlformats.org/officeDocument/2006/relationships/image"/><Relationship Id="rId12" Target="../media/image20.sv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sv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Relationship Id="rId8" Target="../media/image26.png" Type="http://schemas.openxmlformats.org/officeDocument/2006/relationships/image"/><Relationship Id="rId9" Target="../media/image2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Relationship Id="rId8" Target="../media/image33.pn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png" Type="http://schemas.openxmlformats.org/officeDocument/2006/relationships/image"/><Relationship Id="rId2" Target="../notesSlides/notesSlide11.xml" Type="http://schemas.openxmlformats.org/officeDocument/2006/relationships/notesSlide"/><Relationship Id="rId3" Target="../media/image1.pn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Relationship Id="rId8" Target="../media/image40.png" Type="http://schemas.openxmlformats.org/officeDocument/2006/relationships/image"/><Relationship Id="rId9" Target="../media/image4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11" Target="../media/image50.svg" Type="http://schemas.openxmlformats.org/officeDocument/2006/relationships/image"/><Relationship Id="rId12" Target="../media/image51.png" Type="http://schemas.openxmlformats.org/officeDocument/2006/relationships/image"/><Relationship Id="rId13" Target="../media/image52.svg" Type="http://schemas.openxmlformats.org/officeDocument/2006/relationships/image"/><Relationship Id="rId14" Target="../media/image53.png" Type="http://schemas.openxmlformats.org/officeDocument/2006/relationships/image"/><Relationship Id="rId15" Target="../media/image54.svg" Type="http://schemas.openxmlformats.org/officeDocument/2006/relationships/image"/><Relationship Id="rId2" Target="../notesSlides/notesSlide12.xml" Type="http://schemas.openxmlformats.org/officeDocument/2006/relationships/notesSlide"/><Relationship Id="rId3" Target="../media/image1.png" Type="http://schemas.openxmlformats.org/officeDocument/2006/relationships/image"/><Relationship Id="rId4" Target="../media/image43.png" Type="http://schemas.openxmlformats.org/officeDocument/2006/relationships/image"/><Relationship Id="rId5" Target="../media/image44.svg" Type="http://schemas.openxmlformats.org/officeDocument/2006/relationships/image"/><Relationship Id="rId6" Target="../media/image45.png" Type="http://schemas.openxmlformats.org/officeDocument/2006/relationships/image"/><Relationship Id="rId7" Target="../media/image46.svg" Type="http://schemas.openxmlformats.org/officeDocument/2006/relationships/image"/><Relationship Id="rId8" Target="../media/image47.png" Type="http://schemas.openxmlformats.org/officeDocument/2006/relationships/image"/><Relationship Id="rId9" Target="../media/image4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png" Type="http://schemas.openxmlformats.org/officeDocument/2006/relationships/image"/><Relationship Id="rId4" Target="../media/image55.png" Type="http://schemas.openxmlformats.org/officeDocument/2006/relationships/image"/><Relationship Id="rId5" Target="../media/image56.png" Type="http://schemas.openxmlformats.org/officeDocument/2006/relationships/image"/><Relationship Id="rId6" Target="../media/image57.png" Type="http://schemas.openxmlformats.org/officeDocument/2006/relationships/image"/><Relationship Id="rId7" Target="../media/image5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png" Type="http://schemas.openxmlformats.org/officeDocument/2006/relationships/image"/><Relationship Id="rId4" Target="../media/image59.png" Type="http://schemas.openxmlformats.org/officeDocument/2006/relationships/image"/><Relationship Id="rId5" Target="../media/image60.svg" Type="http://schemas.openxmlformats.org/officeDocument/2006/relationships/image"/><Relationship Id="rId6" Target="../media/image61.png" Type="http://schemas.openxmlformats.org/officeDocument/2006/relationships/image"/><Relationship Id="rId7" Target="../media/image62.svg" Type="http://schemas.openxmlformats.org/officeDocument/2006/relationships/image"/><Relationship Id="rId8" Target="../media/image63.png" Type="http://schemas.openxmlformats.org/officeDocument/2006/relationships/image"/><Relationship Id="rId9" Target="../media/image6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png" Type="http://schemas.openxmlformats.org/officeDocument/2006/relationships/image"/><Relationship Id="rId4" Target="../media/image65.png" Type="http://schemas.openxmlformats.org/officeDocument/2006/relationships/image"/><Relationship Id="rId5" Target="../media/image66.svg" Type="http://schemas.openxmlformats.org/officeDocument/2006/relationships/image"/><Relationship Id="rId6" Target="../media/image67.png" Type="http://schemas.openxmlformats.org/officeDocument/2006/relationships/image"/><Relationship Id="rId7" Target="../media/image68.svg" Type="http://schemas.openxmlformats.org/officeDocument/2006/relationships/image"/><Relationship Id="rId8" Target="../media/image69.png" Type="http://schemas.openxmlformats.org/officeDocument/2006/relationships/image"/><Relationship Id="rId9" Target="../media/image70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png" Type="http://schemas.openxmlformats.org/officeDocument/2006/relationships/image"/><Relationship Id="rId4" Target="../media/image7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3128810"/>
            <a:ext cx="4187547" cy="1148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8"/>
              </a:lnSpc>
            </a:pPr>
            <a:r>
              <a:rPr lang="en-US" sz="7062">
                <a:solidFill>
                  <a:srgbClr val="3F6FF3"/>
                </a:solidFill>
                <a:latin typeface="Arimo"/>
                <a:ea typeface="Arimo"/>
                <a:cs typeface="Arimo"/>
                <a:sym typeface="Arimo"/>
              </a:rPr>
              <a:t>HeavyHub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4411418"/>
            <a:ext cx="9445523" cy="671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 i="true">
                <a:solidFill>
                  <a:srgbClr val="666666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Powering Fields. On Demand.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5316293"/>
            <a:ext cx="944552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Transforming heavy equipment access for India's agricultural sector through an intelligent rental platform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6542484"/>
            <a:ext cx="94455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66666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Team:</a:t>
            </a: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827762"/>
            <a:ext cx="708823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3F6FF3"/>
                </a:solidFill>
                <a:latin typeface="Arimo"/>
                <a:ea typeface="Arimo"/>
                <a:cs typeface="Arimo"/>
                <a:sym typeface="Arimo"/>
              </a:rPr>
              <a:t>The Challenge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73188" y="3318872"/>
            <a:ext cx="8048034" cy="2655246"/>
            <a:chOff x="0" y="0"/>
            <a:chExt cx="10730713" cy="35403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5400" y="25400"/>
              <a:ext cx="10679938" cy="3489452"/>
            </a:xfrm>
            <a:custGeom>
              <a:avLst/>
              <a:gdLst/>
              <a:ahLst/>
              <a:cxnLst/>
              <a:rect r="r" b="b" t="t" l="l"/>
              <a:pathLst>
                <a:path h="3489452" w="10679938">
                  <a:moveTo>
                    <a:pt x="0" y="243840"/>
                  </a:moveTo>
                  <a:cubicBezTo>
                    <a:pt x="0" y="109220"/>
                    <a:pt x="110236" y="0"/>
                    <a:pt x="246253" y="0"/>
                  </a:cubicBezTo>
                  <a:lnTo>
                    <a:pt x="10433685" y="0"/>
                  </a:lnTo>
                  <a:cubicBezTo>
                    <a:pt x="10569702" y="0"/>
                    <a:pt x="10679938" y="109220"/>
                    <a:pt x="10679938" y="243840"/>
                  </a:cubicBezTo>
                  <a:lnTo>
                    <a:pt x="10679938" y="3245612"/>
                  </a:lnTo>
                  <a:cubicBezTo>
                    <a:pt x="10679938" y="3380232"/>
                    <a:pt x="10569702" y="3489452"/>
                    <a:pt x="10433685" y="3489452"/>
                  </a:cubicBezTo>
                  <a:lnTo>
                    <a:pt x="246253" y="3489452"/>
                  </a:lnTo>
                  <a:cubicBezTo>
                    <a:pt x="110236" y="3489452"/>
                    <a:pt x="0" y="3380232"/>
                    <a:pt x="0" y="3245612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30738" cy="3540252"/>
            </a:xfrm>
            <a:custGeom>
              <a:avLst/>
              <a:gdLst/>
              <a:ahLst/>
              <a:cxnLst/>
              <a:rect r="r" b="b" t="t" l="l"/>
              <a:pathLst>
                <a:path h="3540252" w="10730738">
                  <a:moveTo>
                    <a:pt x="0" y="269240"/>
                  </a:moveTo>
                  <a:cubicBezTo>
                    <a:pt x="0" y="120269"/>
                    <a:pt x="121793" y="0"/>
                    <a:pt x="271653" y="0"/>
                  </a:cubicBezTo>
                  <a:lnTo>
                    <a:pt x="10459085" y="0"/>
                  </a:lnTo>
                  <a:lnTo>
                    <a:pt x="10459085" y="25400"/>
                  </a:lnTo>
                  <a:lnTo>
                    <a:pt x="10459085" y="0"/>
                  </a:lnTo>
                  <a:cubicBezTo>
                    <a:pt x="10608818" y="0"/>
                    <a:pt x="10730738" y="120269"/>
                    <a:pt x="10730738" y="269240"/>
                  </a:cubicBezTo>
                  <a:lnTo>
                    <a:pt x="10705338" y="269240"/>
                  </a:lnTo>
                  <a:lnTo>
                    <a:pt x="10730738" y="269240"/>
                  </a:lnTo>
                  <a:lnTo>
                    <a:pt x="10730738" y="3271012"/>
                  </a:lnTo>
                  <a:lnTo>
                    <a:pt x="10705338" y="3271012"/>
                  </a:lnTo>
                  <a:lnTo>
                    <a:pt x="10730738" y="3271012"/>
                  </a:lnTo>
                  <a:cubicBezTo>
                    <a:pt x="10730738" y="3419983"/>
                    <a:pt x="10608945" y="3540252"/>
                    <a:pt x="10459085" y="3540252"/>
                  </a:cubicBezTo>
                  <a:lnTo>
                    <a:pt x="10459085" y="3514852"/>
                  </a:lnTo>
                  <a:lnTo>
                    <a:pt x="10459085" y="3540252"/>
                  </a:lnTo>
                  <a:lnTo>
                    <a:pt x="271653" y="3540252"/>
                  </a:lnTo>
                  <a:lnTo>
                    <a:pt x="271653" y="3514852"/>
                  </a:lnTo>
                  <a:lnTo>
                    <a:pt x="271653" y="3540252"/>
                  </a:lnTo>
                  <a:cubicBezTo>
                    <a:pt x="121793" y="3540379"/>
                    <a:pt x="0" y="3419983"/>
                    <a:pt x="0" y="3271012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271012"/>
                  </a:lnTo>
                  <a:lnTo>
                    <a:pt x="25400" y="3271012"/>
                  </a:lnTo>
                  <a:lnTo>
                    <a:pt x="50800" y="3271012"/>
                  </a:lnTo>
                  <a:cubicBezTo>
                    <a:pt x="50800" y="3391408"/>
                    <a:pt x="149479" y="3489452"/>
                    <a:pt x="271653" y="3489452"/>
                  </a:cubicBezTo>
                  <a:lnTo>
                    <a:pt x="10459085" y="3489452"/>
                  </a:lnTo>
                  <a:cubicBezTo>
                    <a:pt x="10581259" y="3489452"/>
                    <a:pt x="10679938" y="3391408"/>
                    <a:pt x="10679938" y="3271012"/>
                  </a:cubicBezTo>
                  <a:lnTo>
                    <a:pt x="10679938" y="269240"/>
                  </a:lnTo>
                  <a:cubicBezTo>
                    <a:pt x="10679938" y="148844"/>
                    <a:pt x="10581259" y="50800"/>
                    <a:pt x="10459085" y="50800"/>
                  </a:cubicBezTo>
                  <a:lnTo>
                    <a:pt x="271653" y="50800"/>
                  </a:lnTo>
                  <a:lnTo>
                    <a:pt x="271653" y="25400"/>
                  </a:lnTo>
                  <a:lnTo>
                    <a:pt x="271653" y="50800"/>
                  </a:lnTo>
                  <a:cubicBezTo>
                    <a:pt x="149479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B5C1E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54138" y="3337922"/>
            <a:ext cx="152400" cy="2617146"/>
            <a:chOff x="0" y="0"/>
            <a:chExt cx="203200" cy="34895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3200" cy="3489579"/>
            </a:xfrm>
            <a:custGeom>
              <a:avLst/>
              <a:gdLst/>
              <a:ahLst/>
              <a:cxnLst/>
              <a:rect r="r" b="b" t="t" l="l"/>
              <a:pathLst>
                <a:path h="3489579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387979"/>
                  </a:lnTo>
                  <a:cubicBezTo>
                    <a:pt x="203200" y="3444113"/>
                    <a:pt x="157734" y="3489579"/>
                    <a:pt x="101600" y="3489579"/>
                  </a:cubicBezTo>
                  <a:cubicBezTo>
                    <a:pt x="45466" y="3489579"/>
                    <a:pt x="0" y="3444113"/>
                    <a:pt x="0" y="3387979"/>
                  </a:cubicBezTo>
                  <a:close/>
                </a:path>
              </a:pathLst>
            </a:custGeom>
            <a:solidFill>
              <a:srgbClr val="A2B9F9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428159" y="3621434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Limited Access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8159" y="4186828"/>
            <a:ext cx="7252392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Farmers and contractors struggle to access heavy-duty machinery like tractors, harvesters, and JCBs when needed most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66634" y="3318872"/>
            <a:ext cx="8048177" cy="2655246"/>
            <a:chOff x="0" y="0"/>
            <a:chExt cx="10730903" cy="35403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00" y="25400"/>
              <a:ext cx="10680192" cy="3489452"/>
            </a:xfrm>
            <a:custGeom>
              <a:avLst/>
              <a:gdLst/>
              <a:ahLst/>
              <a:cxnLst/>
              <a:rect r="r" b="b" t="t" l="l"/>
              <a:pathLst>
                <a:path h="3489452" w="10680192">
                  <a:moveTo>
                    <a:pt x="0" y="243840"/>
                  </a:moveTo>
                  <a:cubicBezTo>
                    <a:pt x="0" y="109220"/>
                    <a:pt x="110236" y="0"/>
                    <a:pt x="246253" y="0"/>
                  </a:cubicBezTo>
                  <a:lnTo>
                    <a:pt x="10433939" y="0"/>
                  </a:lnTo>
                  <a:cubicBezTo>
                    <a:pt x="10569956" y="0"/>
                    <a:pt x="10680192" y="109220"/>
                    <a:pt x="10680192" y="243840"/>
                  </a:cubicBezTo>
                  <a:lnTo>
                    <a:pt x="10680192" y="3245612"/>
                  </a:lnTo>
                  <a:cubicBezTo>
                    <a:pt x="10680192" y="3380232"/>
                    <a:pt x="10569956" y="3489452"/>
                    <a:pt x="10433939" y="3489452"/>
                  </a:cubicBezTo>
                  <a:lnTo>
                    <a:pt x="246253" y="3489452"/>
                  </a:lnTo>
                  <a:cubicBezTo>
                    <a:pt x="110236" y="3489452"/>
                    <a:pt x="0" y="3380232"/>
                    <a:pt x="0" y="3245612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30992" cy="3540252"/>
            </a:xfrm>
            <a:custGeom>
              <a:avLst/>
              <a:gdLst/>
              <a:ahLst/>
              <a:cxnLst/>
              <a:rect r="r" b="b" t="t" l="l"/>
              <a:pathLst>
                <a:path h="3540252" w="10730992">
                  <a:moveTo>
                    <a:pt x="0" y="269240"/>
                  </a:moveTo>
                  <a:cubicBezTo>
                    <a:pt x="0" y="120269"/>
                    <a:pt x="121793" y="0"/>
                    <a:pt x="271653" y="0"/>
                  </a:cubicBezTo>
                  <a:lnTo>
                    <a:pt x="10459339" y="0"/>
                  </a:lnTo>
                  <a:lnTo>
                    <a:pt x="10459339" y="25400"/>
                  </a:lnTo>
                  <a:lnTo>
                    <a:pt x="10459339" y="0"/>
                  </a:lnTo>
                  <a:cubicBezTo>
                    <a:pt x="10609072" y="0"/>
                    <a:pt x="10730992" y="120269"/>
                    <a:pt x="10730992" y="269240"/>
                  </a:cubicBezTo>
                  <a:lnTo>
                    <a:pt x="10705592" y="269240"/>
                  </a:lnTo>
                  <a:lnTo>
                    <a:pt x="10730992" y="269240"/>
                  </a:lnTo>
                  <a:lnTo>
                    <a:pt x="10730992" y="3271012"/>
                  </a:lnTo>
                  <a:lnTo>
                    <a:pt x="10705592" y="3271012"/>
                  </a:lnTo>
                  <a:lnTo>
                    <a:pt x="10730992" y="3271012"/>
                  </a:lnTo>
                  <a:cubicBezTo>
                    <a:pt x="10730992" y="3419983"/>
                    <a:pt x="10609199" y="3540252"/>
                    <a:pt x="10459339" y="3540252"/>
                  </a:cubicBezTo>
                  <a:lnTo>
                    <a:pt x="10459339" y="3514852"/>
                  </a:lnTo>
                  <a:lnTo>
                    <a:pt x="10459339" y="3540252"/>
                  </a:lnTo>
                  <a:lnTo>
                    <a:pt x="271653" y="3540252"/>
                  </a:lnTo>
                  <a:lnTo>
                    <a:pt x="271653" y="3514852"/>
                  </a:lnTo>
                  <a:lnTo>
                    <a:pt x="271653" y="3540252"/>
                  </a:lnTo>
                  <a:cubicBezTo>
                    <a:pt x="121793" y="3540379"/>
                    <a:pt x="0" y="3419983"/>
                    <a:pt x="0" y="3271012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271012"/>
                  </a:lnTo>
                  <a:lnTo>
                    <a:pt x="25400" y="3271012"/>
                  </a:lnTo>
                  <a:lnTo>
                    <a:pt x="50800" y="3271012"/>
                  </a:lnTo>
                  <a:cubicBezTo>
                    <a:pt x="50800" y="3391408"/>
                    <a:pt x="149479" y="3489452"/>
                    <a:pt x="271653" y="3489452"/>
                  </a:cubicBezTo>
                  <a:lnTo>
                    <a:pt x="10459339" y="3489452"/>
                  </a:lnTo>
                  <a:cubicBezTo>
                    <a:pt x="10581513" y="3489452"/>
                    <a:pt x="10680192" y="3391408"/>
                    <a:pt x="10680192" y="3271012"/>
                  </a:cubicBezTo>
                  <a:lnTo>
                    <a:pt x="10680192" y="269240"/>
                  </a:lnTo>
                  <a:cubicBezTo>
                    <a:pt x="10680192" y="148844"/>
                    <a:pt x="10581513" y="50800"/>
                    <a:pt x="10459339" y="50800"/>
                  </a:cubicBezTo>
                  <a:lnTo>
                    <a:pt x="271653" y="50800"/>
                  </a:lnTo>
                  <a:lnTo>
                    <a:pt x="271653" y="25400"/>
                  </a:lnTo>
                  <a:lnTo>
                    <a:pt x="271653" y="50800"/>
                  </a:lnTo>
                  <a:cubicBezTo>
                    <a:pt x="149479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B5C1E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247584" y="3337922"/>
            <a:ext cx="152400" cy="2617146"/>
            <a:chOff x="0" y="0"/>
            <a:chExt cx="203200" cy="34895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3200" cy="3489579"/>
            </a:xfrm>
            <a:custGeom>
              <a:avLst/>
              <a:gdLst/>
              <a:ahLst/>
              <a:cxnLst/>
              <a:rect r="r" b="b" t="t" l="l"/>
              <a:pathLst>
                <a:path h="3489579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387979"/>
                  </a:lnTo>
                  <a:cubicBezTo>
                    <a:pt x="203200" y="3444113"/>
                    <a:pt x="157734" y="3489579"/>
                    <a:pt x="101600" y="3489579"/>
                  </a:cubicBezTo>
                  <a:cubicBezTo>
                    <a:pt x="45466" y="3489579"/>
                    <a:pt x="0" y="3444113"/>
                    <a:pt x="0" y="3387979"/>
                  </a:cubicBezTo>
                  <a:close/>
                </a:path>
              </a:pathLst>
            </a:custGeom>
            <a:solidFill>
              <a:srgbClr val="A2B9F9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721606" y="3621434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Prohibitive Costs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21606" y="4186828"/>
            <a:ext cx="7252545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Purchasing equipment requires ₹5–50 lakh investment, far beyond reach for small and medium farmers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73188" y="6219530"/>
            <a:ext cx="8048034" cy="2201618"/>
            <a:chOff x="0" y="0"/>
            <a:chExt cx="10730713" cy="293549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25400" y="25400"/>
              <a:ext cx="10679938" cy="2884678"/>
            </a:xfrm>
            <a:custGeom>
              <a:avLst/>
              <a:gdLst/>
              <a:ahLst/>
              <a:cxnLst/>
              <a:rect r="r" b="b" t="t" l="l"/>
              <a:pathLst>
                <a:path h="2884678" w="10679938">
                  <a:moveTo>
                    <a:pt x="0" y="243840"/>
                  </a:moveTo>
                  <a:cubicBezTo>
                    <a:pt x="0" y="109220"/>
                    <a:pt x="110617" y="0"/>
                    <a:pt x="247015" y="0"/>
                  </a:cubicBezTo>
                  <a:lnTo>
                    <a:pt x="10432923" y="0"/>
                  </a:lnTo>
                  <a:cubicBezTo>
                    <a:pt x="10569321" y="0"/>
                    <a:pt x="10679938" y="109220"/>
                    <a:pt x="10679938" y="243840"/>
                  </a:cubicBezTo>
                  <a:lnTo>
                    <a:pt x="10679938" y="2640838"/>
                  </a:lnTo>
                  <a:cubicBezTo>
                    <a:pt x="10679938" y="2775458"/>
                    <a:pt x="10569321" y="2884678"/>
                    <a:pt x="10432923" y="2884678"/>
                  </a:cubicBezTo>
                  <a:lnTo>
                    <a:pt x="247015" y="2884678"/>
                  </a:lnTo>
                  <a:cubicBezTo>
                    <a:pt x="110617" y="2884678"/>
                    <a:pt x="0" y="2775458"/>
                    <a:pt x="0" y="2640838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730738" cy="2935478"/>
            </a:xfrm>
            <a:custGeom>
              <a:avLst/>
              <a:gdLst/>
              <a:ahLst/>
              <a:cxnLst/>
              <a:rect r="r" b="b" t="t" l="l"/>
              <a:pathLst>
                <a:path h="2935478" w="10730738">
                  <a:moveTo>
                    <a:pt x="0" y="269240"/>
                  </a:moveTo>
                  <a:cubicBezTo>
                    <a:pt x="0" y="120269"/>
                    <a:pt x="122301" y="0"/>
                    <a:pt x="272415" y="0"/>
                  </a:cubicBezTo>
                  <a:lnTo>
                    <a:pt x="10458323" y="0"/>
                  </a:lnTo>
                  <a:lnTo>
                    <a:pt x="10458323" y="25400"/>
                  </a:lnTo>
                  <a:lnTo>
                    <a:pt x="10458323" y="0"/>
                  </a:lnTo>
                  <a:cubicBezTo>
                    <a:pt x="10608437" y="0"/>
                    <a:pt x="10730738" y="120269"/>
                    <a:pt x="10730738" y="269240"/>
                  </a:cubicBezTo>
                  <a:lnTo>
                    <a:pt x="10705338" y="269240"/>
                  </a:lnTo>
                  <a:lnTo>
                    <a:pt x="10730738" y="269240"/>
                  </a:lnTo>
                  <a:lnTo>
                    <a:pt x="10730738" y="2666238"/>
                  </a:lnTo>
                  <a:lnTo>
                    <a:pt x="10705338" y="2666238"/>
                  </a:lnTo>
                  <a:lnTo>
                    <a:pt x="10730738" y="2666238"/>
                  </a:lnTo>
                  <a:cubicBezTo>
                    <a:pt x="10730738" y="2815209"/>
                    <a:pt x="10608437" y="2935478"/>
                    <a:pt x="10458323" y="2935478"/>
                  </a:cubicBezTo>
                  <a:lnTo>
                    <a:pt x="10458323" y="2910078"/>
                  </a:lnTo>
                  <a:lnTo>
                    <a:pt x="10458323" y="2935478"/>
                  </a:lnTo>
                  <a:lnTo>
                    <a:pt x="272415" y="2935478"/>
                  </a:lnTo>
                  <a:lnTo>
                    <a:pt x="272415" y="2910078"/>
                  </a:lnTo>
                  <a:lnTo>
                    <a:pt x="272415" y="2935478"/>
                  </a:lnTo>
                  <a:cubicBezTo>
                    <a:pt x="122301" y="2935478"/>
                    <a:pt x="0" y="2815209"/>
                    <a:pt x="0" y="266623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666238"/>
                  </a:lnTo>
                  <a:lnTo>
                    <a:pt x="25400" y="2666238"/>
                  </a:lnTo>
                  <a:lnTo>
                    <a:pt x="50800" y="2666238"/>
                  </a:lnTo>
                  <a:cubicBezTo>
                    <a:pt x="50800" y="2786634"/>
                    <a:pt x="149733" y="2884678"/>
                    <a:pt x="272415" y="2884678"/>
                  </a:cubicBezTo>
                  <a:lnTo>
                    <a:pt x="10458323" y="2884678"/>
                  </a:lnTo>
                  <a:cubicBezTo>
                    <a:pt x="10581005" y="2884678"/>
                    <a:pt x="10679938" y="2786634"/>
                    <a:pt x="10679938" y="2666238"/>
                  </a:cubicBezTo>
                  <a:lnTo>
                    <a:pt x="10679938" y="269240"/>
                  </a:lnTo>
                  <a:cubicBezTo>
                    <a:pt x="10679938" y="148844"/>
                    <a:pt x="10581005" y="50800"/>
                    <a:pt x="10458323" y="50800"/>
                  </a:cubicBezTo>
                  <a:lnTo>
                    <a:pt x="272415" y="50800"/>
                  </a:lnTo>
                  <a:lnTo>
                    <a:pt x="272415" y="25400"/>
                  </a:lnTo>
                  <a:lnTo>
                    <a:pt x="272415" y="50800"/>
                  </a:lnTo>
                  <a:cubicBezTo>
                    <a:pt x="149733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B5C1E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54138" y="6238580"/>
            <a:ext cx="152400" cy="2163518"/>
            <a:chOff x="0" y="0"/>
            <a:chExt cx="203200" cy="288469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3200" cy="2884678"/>
            </a:xfrm>
            <a:custGeom>
              <a:avLst/>
              <a:gdLst/>
              <a:ahLst/>
              <a:cxnLst/>
              <a:rect r="r" b="b" t="t" l="l"/>
              <a:pathLst>
                <a:path h="2884678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2783078"/>
                  </a:lnTo>
                  <a:cubicBezTo>
                    <a:pt x="203200" y="2839212"/>
                    <a:pt x="157734" y="2884678"/>
                    <a:pt x="101600" y="2884678"/>
                  </a:cubicBezTo>
                  <a:cubicBezTo>
                    <a:pt x="45466" y="2884678"/>
                    <a:pt x="0" y="2839212"/>
                    <a:pt x="0" y="2783078"/>
                  </a:cubicBezTo>
                  <a:close/>
                </a:path>
              </a:pathLst>
            </a:custGeom>
            <a:solidFill>
              <a:srgbClr val="A2B9F9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428159" y="6522091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Unorganised Rentals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28159" y="7087495"/>
            <a:ext cx="7252392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Existing rental systems lack transparency in pricing, availability tracking, and quality assurance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66634" y="6219530"/>
            <a:ext cx="8048177" cy="2201618"/>
            <a:chOff x="0" y="0"/>
            <a:chExt cx="10730903" cy="293549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25400" y="25400"/>
              <a:ext cx="10680192" cy="2884678"/>
            </a:xfrm>
            <a:custGeom>
              <a:avLst/>
              <a:gdLst/>
              <a:ahLst/>
              <a:cxnLst/>
              <a:rect r="r" b="b" t="t" l="l"/>
              <a:pathLst>
                <a:path h="2884678" w="10680192">
                  <a:moveTo>
                    <a:pt x="0" y="243840"/>
                  </a:moveTo>
                  <a:cubicBezTo>
                    <a:pt x="0" y="109220"/>
                    <a:pt x="110617" y="0"/>
                    <a:pt x="247015" y="0"/>
                  </a:cubicBezTo>
                  <a:lnTo>
                    <a:pt x="10433177" y="0"/>
                  </a:lnTo>
                  <a:cubicBezTo>
                    <a:pt x="10569575" y="0"/>
                    <a:pt x="10680192" y="109220"/>
                    <a:pt x="10680192" y="243840"/>
                  </a:cubicBezTo>
                  <a:lnTo>
                    <a:pt x="10680192" y="2640838"/>
                  </a:lnTo>
                  <a:cubicBezTo>
                    <a:pt x="10680192" y="2775458"/>
                    <a:pt x="10569575" y="2884678"/>
                    <a:pt x="10433177" y="2884678"/>
                  </a:cubicBezTo>
                  <a:lnTo>
                    <a:pt x="247015" y="2884678"/>
                  </a:lnTo>
                  <a:cubicBezTo>
                    <a:pt x="110617" y="2884678"/>
                    <a:pt x="0" y="2775458"/>
                    <a:pt x="0" y="2640838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730992" cy="2935478"/>
            </a:xfrm>
            <a:custGeom>
              <a:avLst/>
              <a:gdLst/>
              <a:ahLst/>
              <a:cxnLst/>
              <a:rect r="r" b="b" t="t" l="l"/>
              <a:pathLst>
                <a:path h="2935478" w="10730992">
                  <a:moveTo>
                    <a:pt x="0" y="269240"/>
                  </a:moveTo>
                  <a:cubicBezTo>
                    <a:pt x="0" y="120269"/>
                    <a:pt x="122301" y="0"/>
                    <a:pt x="272415" y="0"/>
                  </a:cubicBezTo>
                  <a:lnTo>
                    <a:pt x="10458577" y="0"/>
                  </a:lnTo>
                  <a:lnTo>
                    <a:pt x="10458577" y="25400"/>
                  </a:lnTo>
                  <a:lnTo>
                    <a:pt x="10458577" y="0"/>
                  </a:lnTo>
                  <a:cubicBezTo>
                    <a:pt x="10608691" y="0"/>
                    <a:pt x="10730992" y="120269"/>
                    <a:pt x="10730992" y="269240"/>
                  </a:cubicBezTo>
                  <a:lnTo>
                    <a:pt x="10705592" y="269240"/>
                  </a:lnTo>
                  <a:lnTo>
                    <a:pt x="10730992" y="269240"/>
                  </a:lnTo>
                  <a:lnTo>
                    <a:pt x="10730992" y="2666238"/>
                  </a:lnTo>
                  <a:lnTo>
                    <a:pt x="10705592" y="2666238"/>
                  </a:lnTo>
                  <a:lnTo>
                    <a:pt x="10730992" y="2666238"/>
                  </a:lnTo>
                  <a:cubicBezTo>
                    <a:pt x="10730992" y="2815209"/>
                    <a:pt x="10608691" y="2935478"/>
                    <a:pt x="10458577" y="2935478"/>
                  </a:cubicBezTo>
                  <a:lnTo>
                    <a:pt x="10458577" y="2910078"/>
                  </a:lnTo>
                  <a:lnTo>
                    <a:pt x="10458577" y="2935478"/>
                  </a:lnTo>
                  <a:lnTo>
                    <a:pt x="272415" y="2935478"/>
                  </a:lnTo>
                  <a:lnTo>
                    <a:pt x="272415" y="2910078"/>
                  </a:lnTo>
                  <a:lnTo>
                    <a:pt x="272415" y="2935478"/>
                  </a:lnTo>
                  <a:cubicBezTo>
                    <a:pt x="122301" y="2935478"/>
                    <a:pt x="0" y="2815209"/>
                    <a:pt x="0" y="266623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666238"/>
                  </a:lnTo>
                  <a:lnTo>
                    <a:pt x="25400" y="2666238"/>
                  </a:lnTo>
                  <a:lnTo>
                    <a:pt x="50800" y="2666238"/>
                  </a:lnTo>
                  <a:cubicBezTo>
                    <a:pt x="50800" y="2786634"/>
                    <a:pt x="149733" y="2884678"/>
                    <a:pt x="272415" y="2884678"/>
                  </a:cubicBezTo>
                  <a:lnTo>
                    <a:pt x="10458577" y="2884678"/>
                  </a:lnTo>
                  <a:cubicBezTo>
                    <a:pt x="10581259" y="2884678"/>
                    <a:pt x="10680192" y="2786634"/>
                    <a:pt x="10680192" y="2666238"/>
                  </a:cubicBezTo>
                  <a:lnTo>
                    <a:pt x="10680192" y="269240"/>
                  </a:lnTo>
                  <a:cubicBezTo>
                    <a:pt x="10680192" y="148844"/>
                    <a:pt x="10581259" y="50800"/>
                    <a:pt x="10458577" y="50800"/>
                  </a:cubicBezTo>
                  <a:lnTo>
                    <a:pt x="272415" y="50800"/>
                  </a:lnTo>
                  <a:lnTo>
                    <a:pt x="272415" y="25400"/>
                  </a:lnTo>
                  <a:lnTo>
                    <a:pt x="272415" y="50800"/>
                  </a:lnTo>
                  <a:cubicBezTo>
                    <a:pt x="149733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B5C1E2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247584" y="6238580"/>
            <a:ext cx="152400" cy="2163518"/>
            <a:chOff x="0" y="0"/>
            <a:chExt cx="203200" cy="288469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3200" cy="2884678"/>
            </a:xfrm>
            <a:custGeom>
              <a:avLst/>
              <a:gdLst/>
              <a:ahLst/>
              <a:cxnLst/>
              <a:rect r="r" b="b" t="t" l="l"/>
              <a:pathLst>
                <a:path h="2884678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2783078"/>
                  </a:lnTo>
                  <a:cubicBezTo>
                    <a:pt x="203200" y="2839212"/>
                    <a:pt x="157734" y="2884678"/>
                    <a:pt x="101600" y="2884678"/>
                  </a:cubicBezTo>
                  <a:cubicBezTo>
                    <a:pt x="45466" y="2884678"/>
                    <a:pt x="0" y="2839212"/>
                    <a:pt x="0" y="2783078"/>
                  </a:cubicBezTo>
                  <a:close/>
                </a:path>
              </a:pathLst>
            </a:custGeom>
            <a:solidFill>
              <a:srgbClr val="A2B9F9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9721606" y="6522091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Idle Assets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721606" y="7087495"/>
            <a:ext cx="7252545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Equipment sits unused 40–60% of time, causing financial losses for owners with high maintenance costs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270817"/>
            <a:ext cx="708823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3F6FF3"/>
                </a:solidFill>
                <a:latin typeface="Arimo"/>
                <a:ea typeface="Arimo"/>
                <a:cs typeface="Arimo"/>
                <a:sym typeface="Arimo"/>
              </a:rPr>
              <a:t>Market Opportunity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4027437"/>
            <a:ext cx="3810000" cy="830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7312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140M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25141" y="5174304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Active Farmers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5739708"/>
            <a:ext cx="3810000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India's agricultural workforce requiring machinery access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56597" y="4027437"/>
            <a:ext cx="3810152" cy="830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7312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&lt;15%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289652" y="5174304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Tractor Ownership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156597" y="5739708"/>
            <a:ext cx="3810152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Low equipment penetration creates massive rental demand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21108" y="4027437"/>
            <a:ext cx="3810152" cy="830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7312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~50%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54153" y="5174304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Utilisation Rate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21108" y="5739708"/>
            <a:ext cx="3810152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Average machinery sits idle most of time, waiting to be used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485609" y="4027437"/>
            <a:ext cx="3810152" cy="830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7312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18%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618664" y="5174304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GDP Contribution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85609" y="5739708"/>
            <a:ext cx="3810152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Agriculture's economic importance driving equipment needs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2238" y="7419527"/>
            <a:ext cx="163035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66666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Target Segments:</a:t>
            </a: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 Small farmers • Construction contractors • Equipment owners • Rural entrepreneurs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243961" y="962025"/>
            <a:ext cx="9261396" cy="910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1"/>
              </a:lnSpc>
            </a:pPr>
            <a:r>
              <a:rPr lang="en-US" sz="5559">
                <a:solidFill>
                  <a:srgbClr val="3F6FF3"/>
                </a:solidFill>
                <a:latin typeface="Arimo"/>
                <a:ea typeface="Arimo"/>
                <a:cs typeface="Arimo"/>
                <a:sym typeface="Arimo"/>
              </a:rPr>
              <a:t>Intelligent Machinery Network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67152" y="2113654"/>
            <a:ext cx="3111580" cy="492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3"/>
              </a:lnSpc>
            </a:pPr>
            <a:r>
              <a:rPr lang="en-US" sz="2999">
                <a:solidFill>
                  <a:srgbClr val="3F6FF3"/>
                </a:solidFill>
                <a:latin typeface="Arimo"/>
                <a:ea typeface="Arimo"/>
                <a:cs typeface="Arimo"/>
                <a:sym typeface="Arimo"/>
              </a:rPr>
              <a:t>Platform Overview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67152" y="2589845"/>
            <a:ext cx="10211695" cy="1059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6"/>
              </a:lnSpc>
            </a:pPr>
            <a:r>
              <a:rPr lang="en-US" sz="2112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An on-demand rental platform for heavy-duty and agricultural vehicles, operating like modern car-sharing services but designed specifically for rural and construction needs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7467152" y="3889500"/>
            <a:ext cx="435178" cy="435178"/>
          </a:xfrm>
          <a:custGeom>
            <a:avLst/>
            <a:gdLst/>
            <a:ahLst/>
            <a:cxnLst/>
            <a:rect r="r" b="b" t="t" l="l"/>
            <a:pathLst>
              <a:path h="435178" w="435178">
                <a:moveTo>
                  <a:pt x="0" y="0"/>
                </a:moveTo>
                <a:lnTo>
                  <a:pt x="435179" y="0"/>
                </a:lnTo>
                <a:lnTo>
                  <a:pt x="435179" y="435178"/>
                </a:lnTo>
                <a:lnTo>
                  <a:pt x="0" y="4351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6304" t="0" r="-16304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467272" y="4326604"/>
            <a:ext cx="2732246" cy="436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4"/>
              </a:lnSpc>
            </a:pPr>
            <a:r>
              <a:rPr lang="en-US" sz="2687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Equipment Range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67272" y="4830253"/>
            <a:ext cx="10211695" cy="354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6"/>
              </a:lnSpc>
            </a:pPr>
            <a:r>
              <a:rPr lang="en-US" sz="2112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Rent tractors, harvesters, JCBs, and specialised agricultural machinery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7467391" y="5424951"/>
            <a:ext cx="435178" cy="435178"/>
          </a:xfrm>
          <a:custGeom>
            <a:avLst/>
            <a:gdLst/>
            <a:ahLst/>
            <a:cxnLst/>
            <a:rect r="r" b="b" t="t" l="l"/>
            <a:pathLst>
              <a:path h="435178" w="435178">
                <a:moveTo>
                  <a:pt x="0" y="0"/>
                </a:moveTo>
                <a:lnTo>
                  <a:pt x="435178" y="0"/>
                </a:lnTo>
                <a:lnTo>
                  <a:pt x="435178" y="435178"/>
                </a:lnTo>
                <a:lnTo>
                  <a:pt x="0" y="4351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1957" r="0" b="-11954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467391" y="5888704"/>
            <a:ext cx="2732127" cy="436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4"/>
              </a:lnSpc>
            </a:pPr>
            <a:r>
              <a:rPr lang="en-US" sz="2687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Operator Included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467391" y="6344728"/>
            <a:ext cx="10211695" cy="354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6"/>
              </a:lnSpc>
            </a:pPr>
            <a:r>
              <a:rPr lang="en-US" sz="2112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Option to book experienced operators alongside equipment for seamless operations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7467152" y="7021298"/>
            <a:ext cx="435178" cy="435178"/>
          </a:xfrm>
          <a:custGeom>
            <a:avLst/>
            <a:gdLst/>
            <a:ahLst/>
            <a:cxnLst/>
            <a:rect r="r" b="b" t="t" l="l"/>
            <a:pathLst>
              <a:path h="435178" w="435178">
                <a:moveTo>
                  <a:pt x="0" y="0"/>
                </a:moveTo>
                <a:lnTo>
                  <a:pt x="435179" y="0"/>
                </a:lnTo>
                <a:lnTo>
                  <a:pt x="435179" y="435179"/>
                </a:lnTo>
                <a:lnTo>
                  <a:pt x="0" y="43517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3042" r="0" b="-13042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467152" y="7427902"/>
            <a:ext cx="2977634" cy="436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4"/>
              </a:lnSpc>
            </a:pPr>
            <a:r>
              <a:rPr lang="en-US" sz="2687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Real-Time Tracking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66557" y="7881161"/>
            <a:ext cx="10211695" cy="354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6"/>
              </a:lnSpc>
            </a:pPr>
            <a:r>
              <a:rPr lang="en-US" sz="2112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Live availability tracking and location monitoring through mobile platform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7467152" y="8467745"/>
            <a:ext cx="435178" cy="435178"/>
          </a:xfrm>
          <a:custGeom>
            <a:avLst/>
            <a:gdLst/>
            <a:ahLst/>
            <a:cxnLst/>
            <a:rect r="r" b="b" t="t" l="l"/>
            <a:pathLst>
              <a:path h="435178" w="435178">
                <a:moveTo>
                  <a:pt x="0" y="0"/>
                </a:moveTo>
                <a:lnTo>
                  <a:pt x="435179" y="0"/>
                </a:lnTo>
                <a:lnTo>
                  <a:pt x="435179" y="435178"/>
                </a:lnTo>
                <a:lnTo>
                  <a:pt x="0" y="4351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2173" r="0" b="-2173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7466557" y="8904420"/>
            <a:ext cx="2978230" cy="436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4"/>
              </a:lnSpc>
            </a:pPr>
            <a:r>
              <a:rPr lang="en-US" sz="2687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Transparent Pricing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467152" y="9303294"/>
            <a:ext cx="10211695" cy="354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6"/>
              </a:lnSpc>
            </a:pPr>
            <a:r>
              <a:rPr lang="en-US" sz="2112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Clear, upfront pricing with no hidden charges or middleman markups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544543" y="714605"/>
            <a:ext cx="5534501" cy="908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18"/>
              </a:lnSpc>
            </a:pPr>
            <a:r>
              <a:rPr lang="en-US" sz="5559">
                <a:solidFill>
                  <a:srgbClr val="3F6FF3"/>
                </a:solidFill>
                <a:latin typeface="Arimo"/>
                <a:ea typeface="Arimo"/>
                <a:cs typeface="Arimo"/>
                <a:sym typeface="Arimo"/>
              </a:rPr>
              <a:t>Value Proposition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539780" y="1765992"/>
            <a:ext cx="10066439" cy="1798291"/>
            <a:chOff x="0" y="0"/>
            <a:chExt cx="13421919" cy="23977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350" y="6350"/>
              <a:ext cx="13409295" cy="2385060"/>
            </a:xfrm>
            <a:custGeom>
              <a:avLst/>
              <a:gdLst/>
              <a:ahLst/>
              <a:cxnLst/>
              <a:rect r="r" b="b" t="t" l="l"/>
              <a:pathLst>
                <a:path h="2385060" w="13409295">
                  <a:moveTo>
                    <a:pt x="0" y="235458"/>
                  </a:moveTo>
                  <a:cubicBezTo>
                    <a:pt x="0" y="105410"/>
                    <a:pt x="105791" y="0"/>
                    <a:pt x="236474" y="0"/>
                  </a:cubicBezTo>
                  <a:lnTo>
                    <a:pt x="13172821" y="0"/>
                  </a:lnTo>
                  <a:cubicBezTo>
                    <a:pt x="13303377" y="0"/>
                    <a:pt x="13409295" y="105410"/>
                    <a:pt x="13409295" y="235458"/>
                  </a:cubicBezTo>
                  <a:lnTo>
                    <a:pt x="13409295" y="2149602"/>
                  </a:lnTo>
                  <a:cubicBezTo>
                    <a:pt x="13409295" y="2279650"/>
                    <a:pt x="13303504" y="2385060"/>
                    <a:pt x="13172821" y="2385060"/>
                  </a:cubicBezTo>
                  <a:lnTo>
                    <a:pt x="236474" y="2385060"/>
                  </a:lnTo>
                  <a:cubicBezTo>
                    <a:pt x="105791" y="2385060"/>
                    <a:pt x="0" y="2279650"/>
                    <a:pt x="0" y="2149602"/>
                  </a:cubicBezTo>
                  <a:close/>
                </a:path>
              </a:pathLst>
            </a:custGeom>
            <a:solidFill>
              <a:srgbClr val="CFDBFC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421995" cy="2397760"/>
            </a:xfrm>
            <a:custGeom>
              <a:avLst/>
              <a:gdLst/>
              <a:ahLst/>
              <a:cxnLst/>
              <a:rect r="r" b="b" t="t" l="l"/>
              <a:pathLst>
                <a:path h="2397760" w="13421995">
                  <a:moveTo>
                    <a:pt x="0" y="241808"/>
                  </a:moveTo>
                  <a:cubicBezTo>
                    <a:pt x="0" y="108204"/>
                    <a:pt x="108712" y="0"/>
                    <a:pt x="242824" y="0"/>
                  </a:cubicBezTo>
                  <a:lnTo>
                    <a:pt x="13179171" y="0"/>
                  </a:lnTo>
                  <a:lnTo>
                    <a:pt x="13179171" y="6350"/>
                  </a:lnTo>
                  <a:lnTo>
                    <a:pt x="13179171" y="0"/>
                  </a:lnTo>
                  <a:cubicBezTo>
                    <a:pt x="13313283" y="0"/>
                    <a:pt x="13421995" y="108204"/>
                    <a:pt x="13421995" y="241808"/>
                  </a:cubicBezTo>
                  <a:lnTo>
                    <a:pt x="13415645" y="241808"/>
                  </a:lnTo>
                  <a:lnTo>
                    <a:pt x="13421995" y="241808"/>
                  </a:lnTo>
                  <a:lnTo>
                    <a:pt x="13421995" y="2155952"/>
                  </a:lnTo>
                  <a:lnTo>
                    <a:pt x="13415645" y="2155952"/>
                  </a:lnTo>
                  <a:lnTo>
                    <a:pt x="13421995" y="2155952"/>
                  </a:lnTo>
                  <a:cubicBezTo>
                    <a:pt x="13421995" y="2289556"/>
                    <a:pt x="13313283" y="2397760"/>
                    <a:pt x="13179171" y="2397760"/>
                  </a:cubicBezTo>
                  <a:lnTo>
                    <a:pt x="13179171" y="2391410"/>
                  </a:lnTo>
                  <a:lnTo>
                    <a:pt x="13179171" y="2397760"/>
                  </a:lnTo>
                  <a:lnTo>
                    <a:pt x="242824" y="2397760"/>
                  </a:lnTo>
                  <a:lnTo>
                    <a:pt x="242824" y="2391410"/>
                  </a:lnTo>
                  <a:lnTo>
                    <a:pt x="242824" y="2397760"/>
                  </a:lnTo>
                  <a:cubicBezTo>
                    <a:pt x="108712" y="2397760"/>
                    <a:pt x="0" y="2289556"/>
                    <a:pt x="0" y="2155952"/>
                  </a:cubicBezTo>
                  <a:lnTo>
                    <a:pt x="0" y="241808"/>
                  </a:lnTo>
                  <a:lnTo>
                    <a:pt x="6350" y="241808"/>
                  </a:lnTo>
                  <a:lnTo>
                    <a:pt x="0" y="241808"/>
                  </a:lnTo>
                  <a:moveTo>
                    <a:pt x="12700" y="241808"/>
                  </a:moveTo>
                  <a:lnTo>
                    <a:pt x="12700" y="2155952"/>
                  </a:lnTo>
                  <a:lnTo>
                    <a:pt x="6350" y="2155952"/>
                  </a:lnTo>
                  <a:lnTo>
                    <a:pt x="12700" y="2155952"/>
                  </a:lnTo>
                  <a:cubicBezTo>
                    <a:pt x="12700" y="2282444"/>
                    <a:pt x="115697" y="2385060"/>
                    <a:pt x="242824" y="2385060"/>
                  </a:cubicBezTo>
                  <a:lnTo>
                    <a:pt x="13179171" y="2385060"/>
                  </a:lnTo>
                  <a:cubicBezTo>
                    <a:pt x="13306298" y="2385060"/>
                    <a:pt x="13409295" y="2282444"/>
                    <a:pt x="13409295" y="2155952"/>
                  </a:cubicBezTo>
                  <a:lnTo>
                    <a:pt x="13409295" y="241808"/>
                  </a:lnTo>
                  <a:cubicBezTo>
                    <a:pt x="13409295" y="115316"/>
                    <a:pt x="13306298" y="12700"/>
                    <a:pt x="13179171" y="12700"/>
                  </a:cubicBezTo>
                  <a:lnTo>
                    <a:pt x="242824" y="12700"/>
                  </a:lnTo>
                  <a:lnTo>
                    <a:pt x="242824" y="6350"/>
                  </a:lnTo>
                  <a:lnTo>
                    <a:pt x="242824" y="12700"/>
                  </a:lnTo>
                  <a:cubicBezTo>
                    <a:pt x="115697" y="12700"/>
                    <a:pt x="12700" y="115316"/>
                    <a:pt x="12700" y="241808"/>
                  </a:cubicBezTo>
                  <a:close/>
                </a:path>
              </a:pathLst>
            </a:custGeom>
            <a:solidFill>
              <a:srgbClr val="A2B9F9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750226" y="1976438"/>
            <a:ext cx="588464" cy="588464"/>
            <a:chOff x="0" y="0"/>
            <a:chExt cx="784619" cy="7846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84606" cy="784606"/>
            </a:xfrm>
            <a:custGeom>
              <a:avLst/>
              <a:gdLst/>
              <a:ahLst/>
              <a:cxnLst/>
              <a:rect r="r" b="b" t="t" l="l"/>
              <a:pathLst>
                <a:path h="784606" w="784606">
                  <a:moveTo>
                    <a:pt x="0" y="392303"/>
                  </a:moveTo>
                  <a:cubicBezTo>
                    <a:pt x="0" y="175641"/>
                    <a:pt x="175641" y="0"/>
                    <a:pt x="392303" y="0"/>
                  </a:cubicBezTo>
                  <a:cubicBezTo>
                    <a:pt x="608965" y="0"/>
                    <a:pt x="784606" y="175641"/>
                    <a:pt x="784606" y="392303"/>
                  </a:cubicBezTo>
                  <a:cubicBezTo>
                    <a:pt x="784606" y="608965"/>
                    <a:pt x="608965" y="784606"/>
                    <a:pt x="392303" y="784606"/>
                  </a:cubicBezTo>
                  <a:cubicBezTo>
                    <a:pt x="175641" y="784606"/>
                    <a:pt x="0" y="608965"/>
                    <a:pt x="0" y="392303"/>
                  </a:cubicBezTo>
                  <a:close/>
                </a:path>
              </a:pathLst>
            </a:custGeom>
            <a:solidFill>
              <a:srgbClr val="A2B9F9"/>
            </a:solidFill>
          </p:spPr>
        </p:sp>
      </p:grpSp>
      <p:sp>
        <p:nvSpPr>
          <p:cNvPr name="Freeform 14" id="14" descr="preencoded.png"/>
          <p:cNvSpPr/>
          <p:nvPr/>
        </p:nvSpPr>
        <p:spPr>
          <a:xfrm flipH="false" flipV="false" rot="0">
            <a:off x="7911998" y="2138210"/>
            <a:ext cx="264766" cy="264766"/>
          </a:xfrm>
          <a:custGeom>
            <a:avLst/>
            <a:gdLst/>
            <a:ahLst/>
            <a:cxnLst/>
            <a:rect r="r" b="b" t="t" l="l"/>
            <a:pathLst>
              <a:path h="264766" w="264766">
                <a:moveTo>
                  <a:pt x="0" y="0"/>
                </a:moveTo>
                <a:lnTo>
                  <a:pt x="264767" y="0"/>
                </a:lnTo>
                <a:lnTo>
                  <a:pt x="264767" y="264767"/>
                </a:lnTo>
                <a:lnTo>
                  <a:pt x="0" y="2647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32143" t="0" r="-3214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595241" y="2021976"/>
            <a:ext cx="3977759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337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Eliminate Investment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50226" y="2869702"/>
            <a:ext cx="9645548" cy="370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1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Remove need for ₹5–50 lakh upfront capital expenditure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539780" y="3690347"/>
            <a:ext cx="10066439" cy="1798291"/>
            <a:chOff x="0" y="0"/>
            <a:chExt cx="13421919" cy="23977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" y="6350"/>
              <a:ext cx="13409295" cy="2385060"/>
            </a:xfrm>
            <a:custGeom>
              <a:avLst/>
              <a:gdLst/>
              <a:ahLst/>
              <a:cxnLst/>
              <a:rect r="r" b="b" t="t" l="l"/>
              <a:pathLst>
                <a:path h="2385060" w="13409295">
                  <a:moveTo>
                    <a:pt x="0" y="235458"/>
                  </a:moveTo>
                  <a:cubicBezTo>
                    <a:pt x="0" y="105410"/>
                    <a:pt x="105791" y="0"/>
                    <a:pt x="236474" y="0"/>
                  </a:cubicBezTo>
                  <a:lnTo>
                    <a:pt x="13172821" y="0"/>
                  </a:lnTo>
                  <a:cubicBezTo>
                    <a:pt x="13303377" y="0"/>
                    <a:pt x="13409295" y="105410"/>
                    <a:pt x="13409295" y="235458"/>
                  </a:cubicBezTo>
                  <a:lnTo>
                    <a:pt x="13409295" y="2149602"/>
                  </a:lnTo>
                  <a:cubicBezTo>
                    <a:pt x="13409295" y="2279650"/>
                    <a:pt x="13303504" y="2385060"/>
                    <a:pt x="13172821" y="2385060"/>
                  </a:cubicBezTo>
                  <a:lnTo>
                    <a:pt x="236474" y="2385060"/>
                  </a:lnTo>
                  <a:cubicBezTo>
                    <a:pt x="105791" y="2385060"/>
                    <a:pt x="0" y="2279650"/>
                    <a:pt x="0" y="2149602"/>
                  </a:cubicBezTo>
                  <a:close/>
                </a:path>
              </a:pathLst>
            </a:custGeom>
            <a:solidFill>
              <a:srgbClr val="CFDBFC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421995" cy="2397760"/>
            </a:xfrm>
            <a:custGeom>
              <a:avLst/>
              <a:gdLst/>
              <a:ahLst/>
              <a:cxnLst/>
              <a:rect r="r" b="b" t="t" l="l"/>
              <a:pathLst>
                <a:path h="2397760" w="13421995">
                  <a:moveTo>
                    <a:pt x="0" y="241808"/>
                  </a:moveTo>
                  <a:cubicBezTo>
                    <a:pt x="0" y="108204"/>
                    <a:pt x="108712" y="0"/>
                    <a:pt x="242824" y="0"/>
                  </a:cubicBezTo>
                  <a:lnTo>
                    <a:pt x="13179171" y="0"/>
                  </a:lnTo>
                  <a:lnTo>
                    <a:pt x="13179171" y="6350"/>
                  </a:lnTo>
                  <a:lnTo>
                    <a:pt x="13179171" y="0"/>
                  </a:lnTo>
                  <a:cubicBezTo>
                    <a:pt x="13313283" y="0"/>
                    <a:pt x="13421995" y="108204"/>
                    <a:pt x="13421995" y="241808"/>
                  </a:cubicBezTo>
                  <a:lnTo>
                    <a:pt x="13415645" y="241808"/>
                  </a:lnTo>
                  <a:lnTo>
                    <a:pt x="13421995" y="241808"/>
                  </a:lnTo>
                  <a:lnTo>
                    <a:pt x="13421995" y="2155952"/>
                  </a:lnTo>
                  <a:lnTo>
                    <a:pt x="13415645" y="2155952"/>
                  </a:lnTo>
                  <a:lnTo>
                    <a:pt x="13421995" y="2155952"/>
                  </a:lnTo>
                  <a:cubicBezTo>
                    <a:pt x="13421995" y="2289556"/>
                    <a:pt x="13313283" y="2397760"/>
                    <a:pt x="13179171" y="2397760"/>
                  </a:cubicBezTo>
                  <a:lnTo>
                    <a:pt x="13179171" y="2391410"/>
                  </a:lnTo>
                  <a:lnTo>
                    <a:pt x="13179171" y="2397760"/>
                  </a:lnTo>
                  <a:lnTo>
                    <a:pt x="242824" y="2397760"/>
                  </a:lnTo>
                  <a:lnTo>
                    <a:pt x="242824" y="2391410"/>
                  </a:lnTo>
                  <a:lnTo>
                    <a:pt x="242824" y="2397760"/>
                  </a:lnTo>
                  <a:cubicBezTo>
                    <a:pt x="108712" y="2397760"/>
                    <a:pt x="0" y="2289556"/>
                    <a:pt x="0" y="2155952"/>
                  </a:cubicBezTo>
                  <a:lnTo>
                    <a:pt x="0" y="241808"/>
                  </a:lnTo>
                  <a:lnTo>
                    <a:pt x="6350" y="241808"/>
                  </a:lnTo>
                  <a:lnTo>
                    <a:pt x="0" y="241808"/>
                  </a:lnTo>
                  <a:moveTo>
                    <a:pt x="12700" y="241808"/>
                  </a:moveTo>
                  <a:lnTo>
                    <a:pt x="12700" y="2155952"/>
                  </a:lnTo>
                  <a:lnTo>
                    <a:pt x="6350" y="2155952"/>
                  </a:lnTo>
                  <a:lnTo>
                    <a:pt x="12700" y="2155952"/>
                  </a:lnTo>
                  <a:cubicBezTo>
                    <a:pt x="12700" y="2282444"/>
                    <a:pt x="115697" y="2385060"/>
                    <a:pt x="242824" y="2385060"/>
                  </a:cubicBezTo>
                  <a:lnTo>
                    <a:pt x="13179171" y="2385060"/>
                  </a:lnTo>
                  <a:cubicBezTo>
                    <a:pt x="13306298" y="2385060"/>
                    <a:pt x="13409295" y="2282444"/>
                    <a:pt x="13409295" y="2155952"/>
                  </a:cubicBezTo>
                  <a:lnTo>
                    <a:pt x="13409295" y="241808"/>
                  </a:lnTo>
                  <a:cubicBezTo>
                    <a:pt x="13409295" y="115316"/>
                    <a:pt x="13306298" y="12700"/>
                    <a:pt x="13179171" y="12700"/>
                  </a:cubicBezTo>
                  <a:lnTo>
                    <a:pt x="242824" y="12700"/>
                  </a:lnTo>
                  <a:lnTo>
                    <a:pt x="242824" y="6350"/>
                  </a:lnTo>
                  <a:lnTo>
                    <a:pt x="242824" y="12700"/>
                  </a:lnTo>
                  <a:cubicBezTo>
                    <a:pt x="115697" y="12700"/>
                    <a:pt x="12700" y="115316"/>
                    <a:pt x="12700" y="241808"/>
                  </a:cubicBezTo>
                  <a:close/>
                </a:path>
              </a:pathLst>
            </a:custGeom>
            <a:solidFill>
              <a:srgbClr val="A2B9F9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750226" y="3900783"/>
            <a:ext cx="588464" cy="588464"/>
            <a:chOff x="0" y="0"/>
            <a:chExt cx="784619" cy="78461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84606" cy="784606"/>
            </a:xfrm>
            <a:custGeom>
              <a:avLst/>
              <a:gdLst/>
              <a:ahLst/>
              <a:cxnLst/>
              <a:rect r="r" b="b" t="t" l="l"/>
              <a:pathLst>
                <a:path h="784606" w="784606">
                  <a:moveTo>
                    <a:pt x="0" y="392303"/>
                  </a:moveTo>
                  <a:cubicBezTo>
                    <a:pt x="0" y="175641"/>
                    <a:pt x="175641" y="0"/>
                    <a:pt x="392303" y="0"/>
                  </a:cubicBezTo>
                  <a:cubicBezTo>
                    <a:pt x="608965" y="0"/>
                    <a:pt x="784606" y="175641"/>
                    <a:pt x="784606" y="392303"/>
                  </a:cubicBezTo>
                  <a:cubicBezTo>
                    <a:pt x="784606" y="608965"/>
                    <a:pt x="608965" y="784606"/>
                    <a:pt x="392303" y="784606"/>
                  </a:cubicBezTo>
                  <a:cubicBezTo>
                    <a:pt x="175641" y="784606"/>
                    <a:pt x="0" y="608965"/>
                    <a:pt x="0" y="392303"/>
                  </a:cubicBezTo>
                  <a:close/>
                </a:path>
              </a:pathLst>
            </a:custGeom>
            <a:solidFill>
              <a:srgbClr val="A2B9F9"/>
            </a:solidFill>
          </p:spPr>
        </p:sp>
      </p:grpSp>
      <p:sp>
        <p:nvSpPr>
          <p:cNvPr name="Freeform 22" id="22" descr="preencoded.png"/>
          <p:cNvSpPr/>
          <p:nvPr/>
        </p:nvSpPr>
        <p:spPr>
          <a:xfrm flipH="false" flipV="false" rot="0">
            <a:off x="7911998" y="4062565"/>
            <a:ext cx="264766" cy="264766"/>
          </a:xfrm>
          <a:custGeom>
            <a:avLst/>
            <a:gdLst/>
            <a:ahLst/>
            <a:cxnLst/>
            <a:rect r="r" b="b" t="t" l="l"/>
            <a:pathLst>
              <a:path h="264766" w="264766">
                <a:moveTo>
                  <a:pt x="0" y="0"/>
                </a:moveTo>
                <a:lnTo>
                  <a:pt x="264767" y="0"/>
                </a:lnTo>
                <a:lnTo>
                  <a:pt x="264767" y="264766"/>
                </a:lnTo>
                <a:lnTo>
                  <a:pt x="0" y="2647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6070" t="0" r="-16073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8595241" y="3945687"/>
            <a:ext cx="3702963" cy="543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0"/>
              </a:lnSpc>
            </a:pPr>
            <a:r>
              <a:rPr lang="en-US" sz="33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Maximise Utilisation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750226" y="4749187"/>
            <a:ext cx="9645548" cy="370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1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Increase machine usage from 40% to 80%+ through shared access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539780" y="5614692"/>
            <a:ext cx="10066439" cy="1798291"/>
            <a:chOff x="0" y="0"/>
            <a:chExt cx="13421919" cy="239772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6350" y="6350"/>
              <a:ext cx="13409295" cy="2385060"/>
            </a:xfrm>
            <a:custGeom>
              <a:avLst/>
              <a:gdLst/>
              <a:ahLst/>
              <a:cxnLst/>
              <a:rect r="r" b="b" t="t" l="l"/>
              <a:pathLst>
                <a:path h="2385060" w="13409295">
                  <a:moveTo>
                    <a:pt x="0" y="235458"/>
                  </a:moveTo>
                  <a:cubicBezTo>
                    <a:pt x="0" y="105410"/>
                    <a:pt x="105791" y="0"/>
                    <a:pt x="236474" y="0"/>
                  </a:cubicBezTo>
                  <a:lnTo>
                    <a:pt x="13172821" y="0"/>
                  </a:lnTo>
                  <a:cubicBezTo>
                    <a:pt x="13303377" y="0"/>
                    <a:pt x="13409295" y="105410"/>
                    <a:pt x="13409295" y="235458"/>
                  </a:cubicBezTo>
                  <a:lnTo>
                    <a:pt x="13409295" y="2149602"/>
                  </a:lnTo>
                  <a:cubicBezTo>
                    <a:pt x="13409295" y="2279650"/>
                    <a:pt x="13303504" y="2385060"/>
                    <a:pt x="13172821" y="2385060"/>
                  </a:cubicBezTo>
                  <a:lnTo>
                    <a:pt x="236474" y="2385060"/>
                  </a:lnTo>
                  <a:cubicBezTo>
                    <a:pt x="105791" y="2385060"/>
                    <a:pt x="0" y="2279650"/>
                    <a:pt x="0" y="2149602"/>
                  </a:cubicBezTo>
                  <a:close/>
                </a:path>
              </a:pathLst>
            </a:custGeom>
            <a:solidFill>
              <a:srgbClr val="CFDBFC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421995" cy="2397760"/>
            </a:xfrm>
            <a:custGeom>
              <a:avLst/>
              <a:gdLst/>
              <a:ahLst/>
              <a:cxnLst/>
              <a:rect r="r" b="b" t="t" l="l"/>
              <a:pathLst>
                <a:path h="2397760" w="13421995">
                  <a:moveTo>
                    <a:pt x="0" y="241808"/>
                  </a:moveTo>
                  <a:cubicBezTo>
                    <a:pt x="0" y="108204"/>
                    <a:pt x="108712" y="0"/>
                    <a:pt x="242824" y="0"/>
                  </a:cubicBezTo>
                  <a:lnTo>
                    <a:pt x="13179171" y="0"/>
                  </a:lnTo>
                  <a:lnTo>
                    <a:pt x="13179171" y="6350"/>
                  </a:lnTo>
                  <a:lnTo>
                    <a:pt x="13179171" y="0"/>
                  </a:lnTo>
                  <a:cubicBezTo>
                    <a:pt x="13313283" y="0"/>
                    <a:pt x="13421995" y="108204"/>
                    <a:pt x="13421995" y="241808"/>
                  </a:cubicBezTo>
                  <a:lnTo>
                    <a:pt x="13415645" y="241808"/>
                  </a:lnTo>
                  <a:lnTo>
                    <a:pt x="13421995" y="241808"/>
                  </a:lnTo>
                  <a:lnTo>
                    <a:pt x="13421995" y="2155952"/>
                  </a:lnTo>
                  <a:lnTo>
                    <a:pt x="13415645" y="2155952"/>
                  </a:lnTo>
                  <a:lnTo>
                    <a:pt x="13421995" y="2155952"/>
                  </a:lnTo>
                  <a:cubicBezTo>
                    <a:pt x="13421995" y="2289556"/>
                    <a:pt x="13313283" y="2397760"/>
                    <a:pt x="13179171" y="2397760"/>
                  </a:cubicBezTo>
                  <a:lnTo>
                    <a:pt x="13179171" y="2391410"/>
                  </a:lnTo>
                  <a:lnTo>
                    <a:pt x="13179171" y="2397760"/>
                  </a:lnTo>
                  <a:lnTo>
                    <a:pt x="242824" y="2397760"/>
                  </a:lnTo>
                  <a:lnTo>
                    <a:pt x="242824" y="2391410"/>
                  </a:lnTo>
                  <a:lnTo>
                    <a:pt x="242824" y="2397760"/>
                  </a:lnTo>
                  <a:cubicBezTo>
                    <a:pt x="108712" y="2397760"/>
                    <a:pt x="0" y="2289556"/>
                    <a:pt x="0" y="2155952"/>
                  </a:cubicBezTo>
                  <a:lnTo>
                    <a:pt x="0" y="241808"/>
                  </a:lnTo>
                  <a:lnTo>
                    <a:pt x="6350" y="241808"/>
                  </a:lnTo>
                  <a:lnTo>
                    <a:pt x="0" y="241808"/>
                  </a:lnTo>
                  <a:moveTo>
                    <a:pt x="12700" y="241808"/>
                  </a:moveTo>
                  <a:lnTo>
                    <a:pt x="12700" y="2155952"/>
                  </a:lnTo>
                  <a:lnTo>
                    <a:pt x="6350" y="2155952"/>
                  </a:lnTo>
                  <a:lnTo>
                    <a:pt x="12700" y="2155952"/>
                  </a:lnTo>
                  <a:cubicBezTo>
                    <a:pt x="12700" y="2282444"/>
                    <a:pt x="115697" y="2385060"/>
                    <a:pt x="242824" y="2385060"/>
                  </a:cubicBezTo>
                  <a:lnTo>
                    <a:pt x="13179171" y="2385060"/>
                  </a:lnTo>
                  <a:cubicBezTo>
                    <a:pt x="13306298" y="2385060"/>
                    <a:pt x="13409295" y="2282444"/>
                    <a:pt x="13409295" y="2155952"/>
                  </a:cubicBezTo>
                  <a:lnTo>
                    <a:pt x="13409295" y="241808"/>
                  </a:lnTo>
                  <a:cubicBezTo>
                    <a:pt x="13409295" y="115316"/>
                    <a:pt x="13306298" y="12700"/>
                    <a:pt x="13179171" y="12700"/>
                  </a:cubicBezTo>
                  <a:lnTo>
                    <a:pt x="242824" y="12700"/>
                  </a:lnTo>
                  <a:lnTo>
                    <a:pt x="242824" y="6350"/>
                  </a:lnTo>
                  <a:lnTo>
                    <a:pt x="242824" y="12700"/>
                  </a:lnTo>
                  <a:cubicBezTo>
                    <a:pt x="115697" y="12700"/>
                    <a:pt x="12700" y="115316"/>
                    <a:pt x="12700" y="241808"/>
                  </a:cubicBezTo>
                  <a:close/>
                </a:path>
              </a:pathLst>
            </a:custGeom>
            <a:solidFill>
              <a:srgbClr val="A2B9F9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750226" y="5825128"/>
            <a:ext cx="588464" cy="588464"/>
            <a:chOff x="0" y="0"/>
            <a:chExt cx="784619" cy="78461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84606" cy="784606"/>
            </a:xfrm>
            <a:custGeom>
              <a:avLst/>
              <a:gdLst/>
              <a:ahLst/>
              <a:cxnLst/>
              <a:rect r="r" b="b" t="t" l="l"/>
              <a:pathLst>
                <a:path h="784606" w="784606">
                  <a:moveTo>
                    <a:pt x="0" y="392303"/>
                  </a:moveTo>
                  <a:cubicBezTo>
                    <a:pt x="0" y="175641"/>
                    <a:pt x="175641" y="0"/>
                    <a:pt x="392303" y="0"/>
                  </a:cubicBezTo>
                  <a:cubicBezTo>
                    <a:pt x="608965" y="0"/>
                    <a:pt x="784606" y="175641"/>
                    <a:pt x="784606" y="392303"/>
                  </a:cubicBezTo>
                  <a:cubicBezTo>
                    <a:pt x="784606" y="608965"/>
                    <a:pt x="608965" y="784606"/>
                    <a:pt x="392303" y="784606"/>
                  </a:cubicBezTo>
                  <a:cubicBezTo>
                    <a:pt x="175641" y="784606"/>
                    <a:pt x="0" y="608965"/>
                    <a:pt x="0" y="392303"/>
                  </a:cubicBezTo>
                  <a:close/>
                </a:path>
              </a:pathLst>
            </a:custGeom>
            <a:solidFill>
              <a:srgbClr val="A2B9F9"/>
            </a:solidFill>
          </p:spPr>
        </p:sp>
      </p:grpSp>
      <p:sp>
        <p:nvSpPr>
          <p:cNvPr name="Freeform 30" id="30" descr="preencoded.png"/>
          <p:cNvSpPr/>
          <p:nvPr/>
        </p:nvSpPr>
        <p:spPr>
          <a:xfrm flipH="false" flipV="false" rot="0">
            <a:off x="7911998" y="5986910"/>
            <a:ext cx="264766" cy="264766"/>
          </a:xfrm>
          <a:custGeom>
            <a:avLst/>
            <a:gdLst/>
            <a:ahLst/>
            <a:cxnLst/>
            <a:rect r="r" b="b" t="t" l="l"/>
            <a:pathLst>
              <a:path h="264766" w="264766">
                <a:moveTo>
                  <a:pt x="0" y="0"/>
                </a:moveTo>
                <a:lnTo>
                  <a:pt x="264767" y="0"/>
                </a:lnTo>
                <a:lnTo>
                  <a:pt x="264767" y="264767"/>
                </a:lnTo>
                <a:lnTo>
                  <a:pt x="0" y="26476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26787" r="0" b="-26783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8595241" y="5828760"/>
            <a:ext cx="3733205" cy="542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8"/>
              </a:lnSpc>
            </a:pPr>
            <a:r>
              <a:rPr lang="en-US" sz="336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Mobile-First Access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750226" y="6708867"/>
            <a:ext cx="9645548" cy="370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1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Easy booking and management through smartphone platform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7539780" y="7539038"/>
            <a:ext cx="10066439" cy="1798291"/>
            <a:chOff x="0" y="0"/>
            <a:chExt cx="13421919" cy="239772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6350" y="6350"/>
              <a:ext cx="13409295" cy="2385060"/>
            </a:xfrm>
            <a:custGeom>
              <a:avLst/>
              <a:gdLst/>
              <a:ahLst/>
              <a:cxnLst/>
              <a:rect r="r" b="b" t="t" l="l"/>
              <a:pathLst>
                <a:path h="2385060" w="13409295">
                  <a:moveTo>
                    <a:pt x="0" y="235458"/>
                  </a:moveTo>
                  <a:cubicBezTo>
                    <a:pt x="0" y="105410"/>
                    <a:pt x="105791" y="0"/>
                    <a:pt x="236474" y="0"/>
                  </a:cubicBezTo>
                  <a:lnTo>
                    <a:pt x="13172821" y="0"/>
                  </a:lnTo>
                  <a:cubicBezTo>
                    <a:pt x="13303377" y="0"/>
                    <a:pt x="13409295" y="105410"/>
                    <a:pt x="13409295" y="235458"/>
                  </a:cubicBezTo>
                  <a:lnTo>
                    <a:pt x="13409295" y="2149602"/>
                  </a:lnTo>
                  <a:cubicBezTo>
                    <a:pt x="13409295" y="2279650"/>
                    <a:pt x="13303504" y="2385060"/>
                    <a:pt x="13172821" y="2385060"/>
                  </a:cubicBezTo>
                  <a:lnTo>
                    <a:pt x="236474" y="2385060"/>
                  </a:lnTo>
                  <a:cubicBezTo>
                    <a:pt x="105791" y="2385060"/>
                    <a:pt x="0" y="2279650"/>
                    <a:pt x="0" y="2149602"/>
                  </a:cubicBezTo>
                  <a:close/>
                </a:path>
              </a:pathLst>
            </a:custGeom>
            <a:solidFill>
              <a:srgbClr val="CFDBFC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421995" cy="2397760"/>
            </a:xfrm>
            <a:custGeom>
              <a:avLst/>
              <a:gdLst/>
              <a:ahLst/>
              <a:cxnLst/>
              <a:rect r="r" b="b" t="t" l="l"/>
              <a:pathLst>
                <a:path h="2397760" w="13421995">
                  <a:moveTo>
                    <a:pt x="0" y="241808"/>
                  </a:moveTo>
                  <a:cubicBezTo>
                    <a:pt x="0" y="108204"/>
                    <a:pt x="108712" y="0"/>
                    <a:pt x="242824" y="0"/>
                  </a:cubicBezTo>
                  <a:lnTo>
                    <a:pt x="13179171" y="0"/>
                  </a:lnTo>
                  <a:lnTo>
                    <a:pt x="13179171" y="6350"/>
                  </a:lnTo>
                  <a:lnTo>
                    <a:pt x="13179171" y="0"/>
                  </a:lnTo>
                  <a:cubicBezTo>
                    <a:pt x="13313283" y="0"/>
                    <a:pt x="13421995" y="108204"/>
                    <a:pt x="13421995" y="241808"/>
                  </a:cubicBezTo>
                  <a:lnTo>
                    <a:pt x="13415645" y="241808"/>
                  </a:lnTo>
                  <a:lnTo>
                    <a:pt x="13421995" y="241808"/>
                  </a:lnTo>
                  <a:lnTo>
                    <a:pt x="13421995" y="2155952"/>
                  </a:lnTo>
                  <a:lnTo>
                    <a:pt x="13415645" y="2155952"/>
                  </a:lnTo>
                  <a:lnTo>
                    <a:pt x="13421995" y="2155952"/>
                  </a:lnTo>
                  <a:cubicBezTo>
                    <a:pt x="13421995" y="2289556"/>
                    <a:pt x="13313283" y="2397760"/>
                    <a:pt x="13179171" y="2397760"/>
                  </a:cubicBezTo>
                  <a:lnTo>
                    <a:pt x="13179171" y="2391410"/>
                  </a:lnTo>
                  <a:lnTo>
                    <a:pt x="13179171" y="2397760"/>
                  </a:lnTo>
                  <a:lnTo>
                    <a:pt x="242824" y="2397760"/>
                  </a:lnTo>
                  <a:lnTo>
                    <a:pt x="242824" y="2391410"/>
                  </a:lnTo>
                  <a:lnTo>
                    <a:pt x="242824" y="2397760"/>
                  </a:lnTo>
                  <a:cubicBezTo>
                    <a:pt x="108712" y="2397760"/>
                    <a:pt x="0" y="2289556"/>
                    <a:pt x="0" y="2155952"/>
                  </a:cubicBezTo>
                  <a:lnTo>
                    <a:pt x="0" y="241808"/>
                  </a:lnTo>
                  <a:lnTo>
                    <a:pt x="6350" y="241808"/>
                  </a:lnTo>
                  <a:lnTo>
                    <a:pt x="0" y="241808"/>
                  </a:lnTo>
                  <a:moveTo>
                    <a:pt x="12700" y="241808"/>
                  </a:moveTo>
                  <a:lnTo>
                    <a:pt x="12700" y="2155952"/>
                  </a:lnTo>
                  <a:lnTo>
                    <a:pt x="6350" y="2155952"/>
                  </a:lnTo>
                  <a:lnTo>
                    <a:pt x="12700" y="2155952"/>
                  </a:lnTo>
                  <a:cubicBezTo>
                    <a:pt x="12700" y="2282444"/>
                    <a:pt x="115697" y="2385060"/>
                    <a:pt x="242824" y="2385060"/>
                  </a:cubicBezTo>
                  <a:lnTo>
                    <a:pt x="13179171" y="2385060"/>
                  </a:lnTo>
                  <a:cubicBezTo>
                    <a:pt x="13306298" y="2385060"/>
                    <a:pt x="13409295" y="2282444"/>
                    <a:pt x="13409295" y="2155952"/>
                  </a:cubicBezTo>
                  <a:lnTo>
                    <a:pt x="13409295" y="241808"/>
                  </a:lnTo>
                  <a:cubicBezTo>
                    <a:pt x="13409295" y="115316"/>
                    <a:pt x="13306298" y="12700"/>
                    <a:pt x="13179171" y="12700"/>
                  </a:cubicBezTo>
                  <a:lnTo>
                    <a:pt x="242824" y="12700"/>
                  </a:lnTo>
                  <a:lnTo>
                    <a:pt x="242824" y="6350"/>
                  </a:lnTo>
                  <a:lnTo>
                    <a:pt x="242824" y="12700"/>
                  </a:lnTo>
                  <a:cubicBezTo>
                    <a:pt x="115697" y="12700"/>
                    <a:pt x="12700" y="115316"/>
                    <a:pt x="12700" y="241808"/>
                  </a:cubicBezTo>
                  <a:close/>
                </a:path>
              </a:pathLst>
            </a:custGeom>
            <a:solidFill>
              <a:srgbClr val="A2B9F9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7750226" y="7749483"/>
            <a:ext cx="588464" cy="588464"/>
            <a:chOff x="0" y="0"/>
            <a:chExt cx="784619" cy="78461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84606" cy="784606"/>
            </a:xfrm>
            <a:custGeom>
              <a:avLst/>
              <a:gdLst/>
              <a:ahLst/>
              <a:cxnLst/>
              <a:rect r="r" b="b" t="t" l="l"/>
              <a:pathLst>
                <a:path h="784606" w="784606">
                  <a:moveTo>
                    <a:pt x="0" y="392303"/>
                  </a:moveTo>
                  <a:cubicBezTo>
                    <a:pt x="0" y="175641"/>
                    <a:pt x="175641" y="0"/>
                    <a:pt x="392303" y="0"/>
                  </a:cubicBezTo>
                  <a:cubicBezTo>
                    <a:pt x="608965" y="0"/>
                    <a:pt x="784606" y="175641"/>
                    <a:pt x="784606" y="392303"/>
                  </a:cubicBezTo>
                  <a:cubicBezTo>
                    <a:pt x="784606" y="608965"/>
                    <a:pt x="608965" y="784606"/>
                    <a:pt x="392303" y="784606"/>
                  </a:cubicBezTo>
                  <a:cubicBezTo>
                    <a:pt x="175641" y="784606"/>
                    <a:pt x="0" y="608965"/>
                    <a:pt x="0" y="392303"/>
                  </a:cubicBezTo>
                  <a:close/>
                </a:path>
              </a:pathLst>
            </a:custGeom>
            <a:solidFill>
              <a:srgbClr val="A2B9F9"/>
            </a:solidFill>
          </p:spPr>
        </p:sp>
      </p:grpSp>
      <p:sp>
        <p:nvSpPr>
          <p:cNvPr name="Freeform 38" id="38" descr="preencoded.png"/>
          <p:cNvSpPr/>
          <p:nvPr/>
        </p:nvSpPr>
        <p:spPr>
          <a:xfrm flipH="false" flipV="false" rot="0">
            <a:off x="7911998" y="7911255"/>
            <a:ext cx="264766" cy="264766"/>
          </a:xfrm>
          <a:custGeom>
            <a:avLst/>
            <a:gdLst/>
            <a:ahLst/>
            <a:cxnLst/>
            <a:rect r="r" b="b" t="t" l="l"/>
            <a:pathLst>
              <a:path h="264766" w="264766">
                <a:moveTo>
                  <a:pt x="0" y="0"/>
                </a:moveTo>
                <a:lnTo>
                  <a:pt x="264767" y="0"/>
                </a:lnTo>
                <a:lnTo>
                  <a:pt x="264767" y="264767"/>
                </a:lnTo>
                <a:lnTo>
                  <a:pt x="0" y="26476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17858" t="0" r="-17854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8595241" y="7753105"/>
            <a:ext cx="3401378" cy="542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8"/>
              </a:lnSpc>
            </a:pPr>
            <a:r>
              <a:rPr lang="en-US" sz="336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Direct Connection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750226" y="8642747"/>
            <a:ext cx="9645548" cy="370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1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Reduce dependency on traditional middlemen and brokers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349873"/>
            <a:ext cx="7473553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3F6FF3"/>
                </a:solidFill>
                <a:latin typeface="Arimo"/>
                <a:ea typeface="Arimo"/>
                <a:cs typeface="Arimo"/>
                <a:sym typeface="Arimo"/>
              </a:rPr>
              <a:t>Competitive Advantage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7476" y="2855271"/>
            <a:ext cx="8019459" cy="2115893"/>
            <a:chOff x="0" y="0"/>
            <a:chExt cx="10692613" cy="28211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10679938" cy="2808478"/>
            </a:xfrm>
            <a:custGeom>
              <a:avLst/>
              <a:gdLst/>
              <a:ahLst/>
              <a:cxnLst/>
              <a:rect r="r" b="b" t="t" l="l"/>
              <a:pathLst>
                <a:path h="2808478" w="10679938">
                  <a:moveTo>
                    <a:pt x="0" y="340233"/>
                  </a:moveTo>
                  <a:cubicBezTo>
                    <a:pt x="0" y="152273"/>
                    <a:pt x="152781" y="0"/>
                    <a:pt x="341376" y="0"/>
                  </a:cubicBezTo>
                  <a:lnTo>
                    <a:pt x="10338562" y="0"/>
                  </a:lnTo>
                  <a:cubicBezTo>
                    <a:pt x="10527157" y="0"/>
                    <a:pt x="10679938" y="152273"/>
                    <a:pt x="10679938" y="340233"/>
                  </a:cubicBezTo>
                  <a:lnTo>
                    <a:pt x="10679938" y="2468245"/>
                  </a:lnTo>
                  <a:cubicBezTo>
                    <a:pt x="10679938" y="2656205"/>
                    <a:pt x="10527157" y="2808478"/>
                    <a:pt x="10338562" y="2808478"/>
                  </a:cubicBezTo>
                  <a:lnTo>
                    <a:pt x="341376" y="2808478"/>
                  </a:lnTo>
                  <a:cubicBezTo>
                    <a:pt x="152781" y="2808478"/>
                    <a:pt x="0" y="2656205"/>
                    <a:pt x="0" y="2468245"/>
                  </a:cubicBezTo>
                  <a:close/>
                </a:path>
              </a:pathLst>
            </a:custGeom>
            <a:solidFill>
              <a:srgbClr val="124DF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92638" cy="2821178"/>
            </a:xfrm>
            <a:custGeom>
              <a:avLst/>
              <a:gdLst/>
              <a:ahLst/>
              <a:cxnLst/>
              <a:rect r="r" b="b" t="t" l="l"/>
              <a:pathLst>
                <a:path h="2821178" w="10692638">
                  <a:moveTo>
                    <a:pt x="0" y="346583"/>
                  </a:moveTo>
                  <a:cubicBezTo>
                    <a:pt x="0" y="155194"/>
                    <a:pt x="155702" y="0"/>
                    <a:pt x="347726" y="0"/>
                  </a:cubicBezTo>
                  <a:lnTo>
                    <a:pt x="10344912" y="0"/>
                  </a:lnTo>
                  <a:lnTo>
                    <a:pt x="10344912" y="6350"/>
                  </a:lnTo>
                  <a:lnTo>
                    <a:pt x="10344912" y="0"/>
                  </a:lnTo>
                  <a:cubicBezTo>
                    <a:pt x="10536936" y="0"/>
                    <a:pt x="10692638" y="155194"/>
                    <a:pt x="10692638" y="346583"/>
                  </a:cubicBezTo>
                  <a:lnTo>
                    <a:pt x="10686288" y="346583"/>
                  </a:lnTo>
                  <a:lnTo>
                    <a:pt x="10692638" y="346583"/>
                  </a:lnTo>
                  <a:lnTo>
                    <a:pt x="10692638" y="2474595"/>
                  </a:lnTo>
                  <a:lnTo>
                    <a:pt x="10686288" y="2474595"/>
                  </a:lnTo>
                  <a:lnTo>
                    <a:pt x="10692638" y="2474595"/>
                  </a:lnTo>
                  <a:cubicBezTo>
                    <a:pt x="10692638" y="2665984"/>
                    <a:pt x="10536936" y="2821178"/>
                    <a:pt x="10344912" y="2821178"/>
                  </a:cubicBezTo>
                  <a:lnTo>
                    <a:pt x="10344912" y="2814828"/>
                  </a:lnTo>
                  <a:lnTo>
                    <a:pt x="10344912" y="2821178"/>
                  </a:lnTo>
                  <a:lnTo>
                    <a:pt x="347726" y="2821178"/>
                  </a:lnTo>
                  <a:lnTo>
                    <a:pt x="347726" y="2814828"/>
                  </a:lnTo>
                  <a:lnTo>
                    <a:pt x="347726" y="2821178"/>
                  </a:lnTo>
                  <a:cubicBezTo>
                    <a:pt x="155702" y="2821178"/>
                    <a:pt x="0" y="2665984"/>
                    <a:pt x="0" y="2474595"/>
                  </a:cubicBezTo>
                  <a:lnTo>
                    <a:pt x="0" y="346583"/>
                  </a:lnTo>
                  <a:lnTo>
                    <a:pt x="6350" y="346583"/>
                  </a:lnTo>
                  <a:lnTo>
                    <a:pt x="0" y="346583"/>
                  </a:lnTo>
                  <a:moveTo>
                    <a:pt x="12700" y="346583"/>
                  </a:moveTo>
                  <a:lnTo>
                    <a:pt x="12700" y="2474595"/>
                  </a:lnTo>
                  <a:lnTo>
                    <a:pt x="6350" y="2474595"/>
                  </a:lnTo>
                  <a:lnTo>
                    <a:pt x="12700" y="2474595"/>
                  </a:lnTo>
                  <a:cubicBezTo>
                    <a:pt x="12700" y="2658999"/>
                    <a:pt x="162687" y="2808478"/>
                    <a:pt x="347726" y="2808478"/>
                  </a:cubicBezTo>
                  <a:lnTo>
                    <a:pt x="10344912" y="2808478"/>
                  </a:lnTo>
                  <a:cubicBezTo>
                    <a:pt x="10529951" y="2808478"/>
                    <a:pt x="10679938" y="2658999"/>
                    <a:pt x="10679938" y="2474595"/>
                  </a:cubicBezTo>
                  <a:lnTo>
                    <a:pt x="10679938" y="346583"/>
                  </a:lnTo>
                  <a:cubicBezTo>
                    <a:pt x="10679938" y="162179"/>
                    <a:pt x="10529951" y="12700"/>
                    <a:pt x="10344912" y="12700"/>
                  </a:cubicBezTo>
                  <a:lnTo>
                    <a:pt x="347726" y="12700"/>
                  </a:lnTo>
                  <a:lnTo>
                    <a:pt x="347726" y="6350"/>
                  </a:lnTo>
                  <a:lnTo>
                    <a:pt x="347726" y="12700"/>
                  </a:lnTo>
                  <a:cubicBezTo>
                    <a:pt x="162687" y="12700"/>
                    <a:pt x="12700" y="162179"/>
                    <a:pt x="12700" y="346583"/>
                  </a:cubicBezTo>
                  <a:close/>
                </a:path>
              </a:pathLst>
            </a:custGeom>
            <a:solidFill>
              <a:srgbClr val="2B66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85284" y="3114970"/>
            <a:ext cx="4584202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Operator + Equipment Model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5284" y="3680374"/>
            <a:ext cx="7423842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Unlike self-drive systems, we provide skilled operators ensuring proper usage and reducing damage risk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280922" y="2855271"/>
            <a:ext cx="8019602" cy="2115893"/>
            <a:chOff x="0" y="0"/>
            <a:chExt cx="10692803" cy="28211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50" y="6350"/>
              <a:ext cx="10680065" cy="2808478"/>
            </a:xfrm>
            <a:custGeom>
              <a:avLst/>
              <a:gdLst/>
              <a:ahLst/>
              <a:cxnLst/>
              <a:rect r="r" b="b" t="t" l="l"/>
              <a:pathLst>
                <a:path h="2808478" w="10680065">
                  <a:moveTo>
                    <a:pt x="0" y="340233"/>
                  </a:moveTo>
                  <a:cubicBezTo>
                    <a:pt x="0" y="152273"/>
                    <a:pt x="152781" y="0"/>
                    <a:pt x="341376" y="0"/>
                  </a:cubicBezTo>
                  <a:lnTo>
                    <a:pt x="10338689" y="0"/>
                  </a:lnTo>
                  <a:cubicBezTo>
                    <a:pt x="10527284" y="0"/>
                    <a:pt x="10680065" y="152273"/>
                    <a:pt x="10680065" y="340233"/>
                  </a:cubicBezTo>
                  <a:lnTo>
                    <a:pt x="10680065" y="2468245"/>
                  </a:lnTo>
                  <a:cubicBezTo>
                    <a:pt x="10680065" y="2656205"/>
                    <a:pt x="10527284" y="2808478"/>
                    <a:pt x="10338689" y="2808478"/>
                  </a:cubicBezTo>
                  <a:lnTo>
                    <a:pt x="341376" y="2808478"/>
                  </a:lnTo>
                  <a:cubicBezTo>
                    <a:pt x="152781" y="2808478"/>
                    <a:pt x="0" y="2656205"/>
                    <a:pt x="0" y="2468245"/>
                  </a:cubicBezTo>
                  <a:close/>
                </a:path>
              </a:pathLst>
            </a:custGeom>
            <a:solidFill>
              <a:srgbClr val="124DF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92765" cy="2821178"/>
            </a:xfrm>
            <a:custGeom>
              <a:avLst/>
              <a:gdLst/>
              <a:ahLst/>
              <a:cxnLst/>
              <a:rect r="r" b="b" t="t" l="l"/>
              <a:pathLst>
                <a:path h="2821178" w="10692765">
                  <a:moveTo>
                    <a:pt x="0" y="346583"/>
                  </a:moveTo>
                  <a:cubicBezTo>
                    <a:pt x="0" y="155194"/>
                    <a:pt x="155702" y="0"/>
                    <a:pt x="347726" y="0"/>
                  </a:cubicBezTo>
                  <a:lnTo>
                    <a:pt x="10345039" y="0"/>
                  </a:lnTo>
                  <a:lnTo>
                    <a:pt x="10345039" y="6350"/>
                  </a:lnTo>
                  <a:lnTo>
                    <a:pt x="10345039" y="0"/>
                  </a:lnTo>
                  <a:cubicBezTo>
                    <a:pt x="10537063" y="0"/>
                    <a:pt x="10692765" y="155194"/>
                    <a:pt x="10692765" y="346583"/>
                  </a:cubicBezTo>
                  <a:lnTo>
                    <a:pt x="10686415" y="346583"/>
                  </a:lnTo>
                  <a:lnTo>
                    <a:pt x="10692765" y="346583"/>
                  </a:lnTo>
                  <a:lnTo>
                    <a:pt x="10692765" y="2474595"/>
                  </a:lnTo>
                  <a:lnTo>
                    <a:pt x="10686415" y="2474595"/>
                  </a:lnTo>
                  <a:lnTo>
                    <a:pt x="10692765" y="2474595"/>
                  </a:lnTo>
                  <a:cubicBezTo>
                    <a:pt x="10692765" y="2665984"/>
                    <a:pt x="10537063" y="2821178"/>
                    <a:pt x="10345039" y="2821178"/>
                  </a:cubicBezTo>
                  <a:lnTo>
                    <a:pt x="10345039" y="2814828"/>
                  </a:lnTo>
                  <a:lnTo>
                    <a:pt x="10345039" y="2821178"/>
                  </a:lnTo>
                  <a:lnTo>
                    <a:pt x="347726" y="2821178"/>
                  </a:lnTo>
                  <a:lnTo>
                    <a:pt x="347726" y="2814828"/>
                  </a:lnTo>
                  <a:lnTo>
                    <a:pt x="347726" y="2821178"/>
                  </a:lnTo>
                  <a:cubicBezTo>
                    <a:pt x="155702" y="2821178"/>
                    <a:pt x="0" y="2665984"/>
                    <a:pt x="0" y="2474595"/>
                  </a:cubicBezTo>
                  <a:lnTo>
                    <a:pt x="0" y="346583"/>
                  </a:lnTo>
                  <a:lnTo>
                    <a:pt x="6350" y="346583"/>
                  </a:lnTo>
                  <a:lnTo>
                    <a:pt x="0" y="346583"/>
                  </a:lnTo>
                  <a:moveTo>
                    <a:pt x="12700" y="346583"/>
                  </a:moveTo>
                  <a:lnTo>
                    <a:pt x="12700" y="2474595"/>
                  </a:lnTo>
                  <a:lnTo>
                    <a:pt x="6350" y="2474595"/>
                  </a:lnTo>
                  <a:lnTo>
                    <a:pt x="12700" y="2474595"/>
                  </a:lnTo>
                  <a:cubicBezTo>
                    <a:pt x="12700" y="2658999"/>
                    <a:pt x="162687" y="2808478"/>
                    <a:pt x="347726" y="2808478"/>
                  </a:cubicBezTo>
                  <a:lnTo>
                    <a:pt x="10345039" y="2808478"/>
                  </a:lnTo>
                  <a:cubicBezTo>
                    <a:pt x="10530078" y="2808478"/>
                    <a:pt x="10680065" y="2658999"/>
                    <a:pt x="10680065" y="2474595"/>
                  </a:cubicBezTo>
                  <a:lnTo>
                    <a:pt x="10680065" y="346583"/>
                  </a:lnTo>
                  <a:cubicBezTo>
                    <a:pt x="10680065" y="162179"/>
                    <a:pt x="10530078" y="12700"/>
                    <a:pt x="10345039" y="12700"/>
                  </a:cubicBezTo>
                  <a:lnTo>
                    <a:pt x="347726" y="12700"/>
                  </a:lnTo>
                  <a:lnTo>
                    <a:pt x="347726" y="6350"/>
                  </a:lnTo>
                  <a:lnTo>
                    <a:pt x="347726" y="12700"/>
                  </a:lnTo>
                  <a:cubicBezTo>
                    <a:pt x="162687" y="12700"/>
                    <a:pt x="12700" y="162179"/>
                    <a:pt x="12700" y="346583"/>
                  </a:cubicBezTo>
                  <a:close/>
                </a:path>
              </a:pathLst>
            </a:custGeom>
            <a:solidFill>
              <a:srgbClr val="2B66FF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578731" y="3114970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Hyperlocal Network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78731" y="3680374"/>
            <a:ext cx="7423995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Village-level availability tracking ensures equipment reaches remote areas within hours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87476" y="5245151"/>
            <a:ext cx="8019459" cy="2115893"/>
            <a:chOff x="0" y="0"/>
            <a:chExt cx="10692613" cy="28211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" y="6350"/>
              <a:ext cx="10679938" cy="2808478"/>
            </a:xfrm>
            <a:custGeom>
              <a:avLst/>
              <a:gdLst/>
              <a:ahLst/>
              <a:cxnLst/>
              <a:rect r="r" b="b" t="t" l="l"/>
              <a:pathLst>
                <a:path h="2808478" w="10679938">
                  <a:moveTo>
                    <a:pt x="0" y="340233"/>
                  </a:moveTo>
                  <a:cubicBezTo>
                    <a:pt x="0" y="152273"/>
                    <a:pt x="152781" y="0"/>
                    <a:pt x="341376" y="0"/>
                  </a:cubicBezTo>
                  <a:lnTo>
                    <a:pt x="10338562" y="0"/>
                  </a:lnTo>
                  <a:cubicBezTo>
                    <a:pt x="10527157" y="0"/>
                    <a:pt x="10679938" y="152273"/>
                    <a:pt x="10679938" y="340233"/>
                  </a:cubicBezTo>
                  <a:lnTo>
                    <a:pt x="10679938" y="2468245"/>
                  </a:lnTo>
                  <a:cubicBezTo>
                    <a:pt x="10679938" y="2656205"/>
                    <a:pt x="10527157" y="2808478"/>
                    <a:pt x="10338562" y="2808478"/>
                  </a:cubicBezTo>
                  <a:lnTo>
                    <a:pt x="341376" y="2808478"/>
                  </a:lnTo>
                  <a:cubicBezTo>
                    <a:pt x="152781" y="2808478"/>
                    <a:pt x="0" y="2656205"/>
                    <a:pt x="0" y="2468245"/>
                  </a:cubicBezTo>
                  <a:close/>
                </a:path>
              </a:pathLst>
            </a:custGeom>
            <a:solidFill>
              <a:srgbClr val="124DF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92638" cy="2821178"/>
            </a:xfrm>
            <a:custGeom>
              <a:avLst/>
              <a:gdLst/>
              <a:ahLst/>
              <a:cxnLst/>
              <a:rect r="r" b="b" t="t" l="l"/>
              <a:pathLst>
                <a:path h="2821178" w="10692638">
                  <a:moveTo>
                    <a:pt x="0" y="346583"/>
                  </a:moveTo>
                  <a:cubicBezTo>
                    <a:pt x="0" y="155194"/>
                    <a:pt x="155702" y="0"/>
                    <a:pt x="347726" y="0"/>
                  </a:cubicBezTo>
                  <a:lnTo>
                    <a:pt x="10344912" y="0"/>
                  </a:lnTo>
                  <a:lnTo>
                    <a:pt x="10344912" y="6350"/>
                  </a:lnTo>
                  <a:lnTo>
                    <a:pt x="10344912" y="0"/>
                  </a:lnTo>
                  <a:cubicBezTo>
                    <a:pt x="10536936" y="0"/>
                    <a:pt x="10692638" y="155194"/>
                    <a:pt x="10692638" y="346583"/>
                  </a:cubicBezTo>
                  <a:lnTo>
                    <a:pt x="10686288" y="346583"/>
                  </a:lnTo>
                  <a:lnTo>
                    <a:pt x="10692638" y="346583"/>
                  </a:lnTo>
                  <a:lnTo>
                    <a:pt x="10692638" y="2474595"/>
                  </a:lnTo>
                  <a:lnTo>
                    <a:pt x="10686288" y="2474595"/>
                  </a:lnTo>
                  <a:lnTo>
                    <a:pt x="10692638" y="2474595"/>
                  </a:lnTo>
                  <a:cubicBezTo>
                    <a:pt x="10692638" y="2665984"/>
                    <a:pt x="10536936" y="2821178"/>
                    <a:pt x="10344912" y="2821178"/>
                  </a:cubicBezTo>
                  <a:lnTo>
                    <a:pt x="10344912" y="2814828"/>
                  </a:lnTo>
                  <a:lnTo>
                    <a:pt x="10344912" y="2821178"/>
                  </a:lnTo>
                  <a:lnTo>
                    <a:pt x="347726" y="2821178"/>
                  </a:lnTo>
                  <a:lnTo>
                    <a:pt x="347726" y="2814828"/>
                  </a:lnTo>
                  <a:lnTo>
                    <a:pt x="347726" y="2821178"/>
                  </a:lnTo>
                  <a:cubicBezTo>
                    <a:pt x="155702" y="2821178"/>
                    <a:pt x="0" y="2665984"/>
                    <a:pt x="0" y="2474595"/>
                  </a:cubicBezTo>
                  <a:lnTo>
                    <a:pt x="0" y="346583"/>
                  </a:lnTo>
                  <a:lnTo>
                    <a:pt x="6350" y="346583"/>
                  </a:lnTo>
                  <a:lnTo>
                    <a:pt x="0" y="346583"/>
                  </a:lnTo>
                  <a:moveTo>
                    <a:pt x="12700" y="346583"/>
                  </a:moveTo>
                  <a:lnTo>
                    <a:pt x="12700" y="2474595"/>
                  </a:lnTo>
                  <a:lnTo>
                    <a:pt x="6350" y="2474595"/>
                  </a:lnTo>
                  <a:lnTo>
                    <a:pt x="12700" y="2474595"/>
                  </a:lnTo>
                  <a:cubicBezTo>
                    <a:pt x="12700" y="2658999"/>
                    <a:pt x="162687" y="2808478"/>
                    <a:pt x="347726" y="2808478"/>
                  </a:cubicBezTo>
                  <a:lnTo>
                    <a:pt x="10344912" y="2808478"/>
                  </a:lnTo>
                  <a:cubicBezTo>
                    <a:pt x="10529951" y="2808478"/>
                    <a:pt x="10679938" y="2658999"/>
                    <a:pt x="10679938" y="2474595"/>
                  </a:cubicBezTo>
                  <a:lnTo>
                    <a:pt x="10679938" y="346583"/>
                  </a:lnTo>
                  <a:cubicBezTo>
                    <a:pt x="10679938" y="162179"/>
                    <a:pt x="10529951" y="12700"/>
                    <a:pt x="10344912" y="12700"/>
                  </a:cubicBezTo>
                  <a:lnTo>
                    <a:pt x="347726" y="12700"/>
                  </a:lnTo>
                  <a:lnTo>
                    <a:pt x="347726" y="6350"/>
                  </a:lnTo>
                  <a:lnTo>
                    <a:pt x="347726" y="12700"/>
                  </a:lnTo>
                  <a:cubicBezTo>
                    <a:pt x="162687" y="12700"/>
                    <a:pt x="12700" y="162179"/>
                    <a:pt x="12700" y="346583"/>
                  </a:cubicBezTo>
                  <a:close/>
                </a:path>
              </a:pathLst>
            </a:custGeom>
            <a:solidFill>
              <a:srgbClr val="2B66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85284" y="5504859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IoT-Ready Tracking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85284" y="6070254"/>
            <a:ext cx="7423842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GPS, fuel monitoring, and usage analytics provide real-time safety and operational insights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280922" y="5245151"/>
            <a:ext cx="8019602" cy="2115893"/>
            <a:chOff x="0" y="0"/>
            <a:chExt cx="10692803" cy="282119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6350" y="6350"/>
              <a:ext cx="10680065" cy="2808478"/>
            </a:xfrm>
            <a:custGeom>
              <a:avLst/>
              <a:gdLst/>
              <a:ahLst/>
              <a:cxnLst/>
              <a:rect r="r" b="b" t="t" l="l"/>
              <a:pathLst>
                <a:path h="2808478" w="10680065">
                  <a:moveTo>
                    <a:pt x="0" y="340233"/>
                  </a:moveTo>
                  <a:cubicBezTo>
                    <a:pt x="0" y="152273"/>
                    <a:pt x="152781" y="0"/>
                    <a:pt x="341376" y="0"/>
                  </a:cubicBezTo>
                  <a:lnTo>
                    <a:pt x="10338689" y="0"/>
                  </a:lnTo>
                  <a:cubicBezTo>
                    <a:pt x="10527284" y="0"/>
                    <a:pt x="10680065" y="152273"/>
                    <a:pt x="10680065" y="340233"/>
                  </a:cubicBezTo>
                  <a:lnTo>
                    <a:pt x="10680065" y="2468245"/>
                  </a:lnTo>
                  <a:cubicBezTo>
                    <a:pt x="10680065" y="2656205"/>
                    <a:pt x="10527284" y="2808478"/>
                    <a:pt x="10338689" y="2808478"/>
                  </a:cubicBezTo>
                  <a:lnTo>
                    <a:pt x="341376" y="2808478"/>
                  </a:lnTo>
                  <a:cubicBezTo>
                    <a:pt x="152781" y="2808478"/>
                    <a:pt x="0" y="2656205"/>
                    <a:pt x="0" y="2468245"/>
                  </a:cubicBezTo>
                  <a:close/>
                </a:path>
              </a:pathLst>
            </a:custGeom>
            <a:solidFill>
              <a:srgbClr val="124DF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92765" cy="2821178"/>
            </a:xfrm>
            <a:custGeom>
              <a:avLst/>
              <a:gdLst/>
              <a:ahLst/>
              <a:cxnLst/>
              <a:rect r="r" b="b" t="t" l="l"/>
              <a:pathLst>
                <a:path h="2821178" w="10692765">
                  <a:moveTo>
                    <a:pt x="0" y="346583"/>
                  </a:moveTo>
                  <a:cubicBezTo>
                    <a:pt x="0" y="155194"/>
                    <a:pt x="155702" y="0"/>
                    <a:pt x="347726" y="0"/>
                  </a:cubicBezTo>
                  <a:lnTo>
                    <a:pt x="10345039" y="0"/>
                  </a:lnTo>
                  <a:lnTo>
                    <a:pt x="10345039" y="6350"/>
                  </a:lnTo>
                  <a:lnTo>
                    <a:pt x="10345039" y="0"/>
                  </a:lnTo>
                  <a:cubicBezTo>
                    <a:pt x="10537063" y="0"/>
                    <a:pt x="10692765" y="155194"/>
                    <a:pt x="10692765" y="346583"/>
                  </a:cubicBezTo>
                  <a:lnTo>
                    <a:pt x="10686415" y="346583"/>
                  </a:lnTo>
                  <a:lnTo>
                    <a:pt x="10692765" y="346583"/>
                  </a:lnTo>
                  <a:lnTo>
                    <a:pt x="10692765" y="2474595"/>
                  </a:lnTo>
                  <a:lnTo>
                    <a:pt x="10686415" y="2474595"/>
                  </a:lnTo>
                  <a:lnTo>
                    <a:pt x="10692765" y="2474595"/>
                  </a:lnTo>
                  <a:cubicBezTo>
                    <a:pt x="10692765" y="2665984"/>
                    <a:pt x="10537063" y="2821178"/>
                    <a:pt x="10345039" y="2821178"/>
                  </a:cubicBezTo>
                  <a:lnTo>
                    <a:pt x="10345039" y="2814828"/>
                  </a:lnTo>
                  <a:lnTo>
                    <a:pt x="10345039" y="2821178"/>
                  </a:lnTo>
                  <a:lnTo>
                    <a:pt x="347726" y="2821178"/>
                  </a:lnTo>
                  <a:lnTo>
                    <a:pt x="347726" y="2814828"/>
                  </a:lnTo>
                  <a:lnTo>
                    <a:pt x="347726" y="2821178"/>
                  </a:lnTo>
                  <a:cubicBezTo>
                    <a:pt x="155702" y="2821178"/>
                    <a:pt x="0" y="2665984"/>
                    <a:pt x="0" y="2474595"/>
                  </a:cubicBezTo>
                  <a:lnTo>
                    <a:pt x="0" y="346583"/>
                  </a:lnTo>
                  <a:lnTo>
                    <a:pt x="6350" y="346583"/>
                  </a:lnTo>
                  <a:lnTo>
                    <a:pt x="0" y="346583"/>
                  </a:lnTo>
                  <a:moveTo>
                    <a:pt x="12700" y="346583"/>
                  </a:moveTo>
                  <a:lnTo>
                    <a:pt x="12700" y="2474595"/>
                  </a:lnTo>
                  <a:lnTo>
                    <a:pt x="6350" y="2474595"/>
                  </a:lnTo>
                  <a:lnTo>
                    <a:pt x="12700" y="2474595"/>
                  </a:lnTo>
                  <a:cubicBezTo>
                    <a:pt x="12700" y="2658999"/>
                    <a:pt x="162687" y="2808478"/>
                    <a:pt x="347726" y="2808478"/>
                  </a:cubicBezTo>
                  <a:lnTo>
                    <a:pt x="10345039" y="2808478"/>
                  </a:lnTo>
                  <a:cubicBezTo>
                    <a:pt x="10530078" y="2808478"/>
                    <a:pt x="10680065" y="2658999"/>
                    <a:pt x="10680065" y="2474595"/>
                  </a:cubicBezTo>
                  <a:lnTo>
                    <a:pt x="10680065" y="346583"/>
                  </a:lnTo>
                  <a:cubicBezTo>
                    <a:pt x="10680065" y="162179"/>
                    <a:pt x="10530078" y="12700"/>
                    <a:pt x="10345039" y="12700"/>
                  </a:cubicBezTo>
                  <a:lnTo>
                    <a:pt x="347726" y="12700"/>
                  </a:lnTo>
                  <a:lnTo>
                    <a:pt x="347726" y="6350"/>
                  </a:lnTo>
                  <a:lnTo>
                    <a:pt x="347726" y="12700"/>
                  </a:lnTo>
                  <a:cubicBezTo>
                    <a:pt x="162687" y="12700"/>
                    <a:pt x="12700" y="162179"/>
                    <a:pt x="12700" y="346583"/>
                  </a:cubicBezTo>
                  <a:close/>
                </a:path>
              </a:pathLst>
            </a:custGeom>
            <a:solidFill>
              <a:srgbClr val="2B66FF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578731" y="5504859"/>
            <a:ext cx="362545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Smart Dynamic Pricing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578731" y="6070254"/>
            <a:ext cx="7423995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AI-powered pricing based on demand, seasonality, and equipment availability optimises revenue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17434" y="7889377"/>
            <a:ext cx="15878327" cy="671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 i="true">
                <a:solidFill>
                  <a:srgbClr val="666666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"Not just rental - an intelligent machinery network"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92238" y="7675216"/>
            <a:ext cx="38100" cy="1204760"/>
            <a:chOff x="0" y="0"/>
            <a:chExt cx="50800" cy="160634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0800" cy="1606296"/>
            </a:xfrm>
            <a:custGeom>
              <a:avLst/>
              <a:gdLst/>
              <a:ahLst/>
              <a:cxnLst/>
              <a:rect r="r" b="b" t="t" l="l"/>
              <a:pathLst>
                <a:path h="1606296" w="50800">
                  <a:moveTo>
                    <a:pt x="0" y="0"/>
                  </a:moveTo>
                  <a:lnTo>
                    <a:pt x="50800" y="0"/>
                  </a:lnTo>
                  <a:lnTo>
                    <a:pt x="50800" y="1606296"/>
                  </a:lnTo>
                  <a:lnTo>
                    <a:pt x="0" y="1606296"/>
                  </a:lnTo>
                  <a:close/>
                </a:path>
              </a:pathLst>
            </a:custGeom>
            <a:solidFill>
              <a:srgbClr val="A2B9F9"/>
            </a:solid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542755"/>
            <a:ext cx="708823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3F6FF3"/>
                </a:solidFill>
                <a:latin typeface="Arimo"/>
                <a:ea typeface="Arimo"/>
                <a:cs typeface="Arimo"/>
                <a:sym typeface="Arimo"/>
              </a:rPr>
              <a:t>Platform Experience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803362" y="2576111"/>
            <a:ext cx="6682189" cy="6682189"/>
            <a:chOff x="0" y="0"/>
            <a:chExt cx="3810000" cy="381000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381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3810000"/>
                  </a:lnTo>
                  <a:lnTo>
                    <a:pt x="0" y="381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048677" y="3156499"/>
            <a:ext cx="4392816" cy="56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>
                <a:solidFill>
                  <a:srgbClr val="3F6FF3"/>
                </a:solidFill>
                <a:latin typeface="Arimo"/>
                <a:ea typeface="Arimo"/>
                <a:cs typeface="Arimo"/>
                <a:sym typeface="Arimo"/>
              </a:rPr>
              <a:t>Web &amp; Mobile Interface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48677" y="3924005"/>
            <a:ext cx="5256457" cy="4663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Interactive map showing nearby available vehicles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Booking system with calendar and pricing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Live GPS tracking during equipment use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Operator details and ratings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Secure payment integration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Usage analytics and notifications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762152" y="921696"/>
            <a:ext cx="5064562" cy="916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62"/>
              </a:lnSpc>
            </a:pPr>
            <a:r>
              <a:rPr lang="en-US" sz="5649">
                <a:solidFill>
                  <a:srgbClr val="3F6FF3"/>
                </a:solidFill>
                <a:latin typeface="Arimo"/>
                <a:ea typeface="Arimo"/>
                <a:cs typeface="Arimo"/>
                <a:sym typeface="Arimo"/>
              </a:rPr>
              <a:t>Technical Stack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2152" y="2039388"/>
            <a:ext cx="2477095" cy="515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3"/>
              </a:lnSpc>
            </a:pPr>
            <a:r>
              <a:rPr lang="en-US" sz="3162">
                <a:solidFill>
                  <a:srgbClr val="3F6FF3"/>
                </a:solidFill>
                <a:latin typeface="Arimo"/>
                <a:ea typeface="Arimo"/>
                <a:cs typeface="Arimo"/>
                <a:sym typeface="Arimo"/>
              </a:rPr>
              <a:t>Core Platform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762152" y="2701080"/>
            <a:ext cx="217732" cy="217732"/>
          </a:xfrm>
          <a:custGeom>
            <a:avLst/>
            <a:gdLst/>
            <a:ahLst/>
            <a:cxnLst/>
            <a:rect r="r" b="b" t="t" l="l"/>
            <a:pathLst>
              <a:path h="217732" w="217732">
                <a:moveTo>
                  <a:pt x="0" y="0"/>
                </a:moveTo>
                <a:lnTo>
                  <a:pt x="217732" y="0"/>
                </a:lnTo>
                <a:lnTo>
                  <a:pt x="217732" y="217732"/>
                </a:lnTo>
                <a:lnTo>
                  <a:pt x="0" y="2177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348" t="0" r="-4348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762152" y="3015253"/>
            <a:ext cx="8116195" cy="28575"/>
            <a:chOff x="0" y="0"/>
            <a:chExt cx="10821594" cy="38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821543" cy="38100"/>
            </a:xfrm>
            <a:custGeom>
              <a:avLst/>
              <a:gdLst/>
              <a:ahLst/>
              <a:cxnLst/>
              <a:rect r="r" b="b" t="t" l="l"/>
              <a:pathLst>
                <a:path h="38100" w="10821543">
                  <a:moveTo>
                    <a:pt x="0" y="0"/>
                  </a:moveTo>
                  <a:lnTo>
                    <a:pt x="10821543" y="0"/>
                  </a:lnTo>
                  <a:lnTo>
                    <a:pt x="1082154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A2B9F9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62152" y="3152623"/>
            <a:ext cx="1435894" cy="454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9"/>
              </a:lnSpc>
            </a:pPr>
            <a:r>
              <a:rPr lang="en-US" sz="2824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Frontend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2152" y="3641084"/>
            <a:ext cx="8116195" cy="387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React.js for responsive web and mobile interfaces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762152" y="4354411"/>
            <a:ext cx="217732" cy="217732"/>
          </a:xfrm>
          <a:custGeom>
            <a:avLst/>
            <a:gdLst/>
            <a:ahLst/>
            <a:cxnLst/>
            <a:rect r="r" b="b" t="t" l="l"/>
            <a:pathLst>
              <a:path h="217732" w="217732">
                <a:moveTo>
                  <a:pt x="0" y="0"/>
                </a:moveTo>
                <a:lnTo>
                  <a:pt x="217732" y="0"/>
                </a:lnTo>
                <a:lnTo>
                  <a:pt x="217732" y="217732"/>
                </a:lnTo>
                <a:lnTo>
                  <a:pt x="0" y="2177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6522" t="0" r="-6522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762152" y="4668593"/>
            <a:ext cx="8116195" cy="28575"/>
            <a:chOff x="0" y="0"/>
            <a:chExt cx="10821594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821543" cy="38100"/>
            </a:xfrm>
            <a:custGeom>
              <a:avLst/>
              <a:gdLst/>
              <a:ahLst/>
              <a:cxnLst/>
              <a:rect r="r" b="b" t="t" l="l"/>
              <a:pathLst>
                <a:path h="38100" w="10821543">
                  <a:moveTo>
                    <a:pt x="0" y="0"/>
                  </a:moveTo>
                  <a:lnTo>
                    <a:pt x="10821543" y="0"/>
                  </a:lnTo>
                  <a:lnTo>
                    <a:pt x="1082154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A2B9F9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762152" y="4805953"/>
            <a:ext cx="1396127" cy="454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9"/>
              </a:lnSpc>
            </a:pPr>
            <a:r>
              <a:rPr lang="en-US" sz="2824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Backend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2152" y="5294414"/>
            <a:ext cx="8116195" cy="387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Node.js with Express for API handling</a:t>
            </a:r>
          </a:p>
        </p:txBody>
      </p:sp>
      <p:sp>
        <p:nvSpPr>
          <p:cNvPr name="Freeform 18" id="18" descr="preencoded.png"/>
          <p:cNvSpPr/>
          <p:nvPr/>
        </p:nvSpPr>
        <p:spPr>
          <a:xfrm flipH="false" flipV="false" rot="0">
            <a:off x="762152" y="6007741"/>
            <a:ext cx="217732" cy="217732"/>
          </a:xfrm>
          <a:custGeom>
            <a:avLst/>
            <a:gdLst/>
            <a:ahLst/>
            <a:cxnLst/>
            <a:rect r="r" b="b" t="t" l="l"/>
            <a:pathLst>
              <a:path h="217732" w="217732">
                <a:moveTo>
                  <a:pt x="0" y="0"/>
                </a:moveTo>
                <a:lnTo>
                  <a:pt x="217732" y="0"/>
                </a:lnTo>
                <a:lnTo>
                  <a:pt x="217732" y="217732"/>
                </a:lnTo>
                <a:lnTo>
                  <a:pt x="0" y="2177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8696" r="0" b="-8696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762152" y="6321923"/>
            <a:ext cx="8116195" cy="28575"/>
            <a:chOff x="0" y="0"/>
            <a:chExt cx="10821594" cy="38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821543" cy="38100"/>
            </a:xfrm>
            <a:custGeom>
              <a:avLst/>
              <a:gdLst/>
              <a:ahLst/>
              <a:cxnLst/>
              <a:rect r="r" b="b" t="t" l="l"/>
              <a:pathLst>
                <a:path h="38100" w="10821543">
                  <a:moveTo>
                    <a:pt x="0" y="0"/>
                  </a:moveTo>
                  <a:lnTo>
                    <a:pt x="10821543" y="0"/>
                  </a:lnTo>
                  <a:lnTo>
                    <a:pt x="1082154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A2B9F9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762152" y="6459293"/>
            <a:ext cx="1535787" cy="454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9"/>
              </a:lnSpc>
            </a:pPr>
            <a:r>
              <a:rPr lang="en-US" sz="2824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Database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62152" y="6947745"/>
            <a:ext cx="8116195" cy="387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MongoDB for flexible data management</a:t>
            </a:r>
          </a:p>
        </p:txBody>
      </p:sp>
      <p:sp>
        <p:nvSpPr>
          <p:cNvPr name="Freeform 23" id="23" descr="preencoded.png"/>
          <p:cNvSpPr/>
          <p:nvPr/>
        </p:nvSpPr>
        <p:spPr>
          <a:xfrm flipH="false" flipV="false" rot="0">
            <a:off x="762152" y="7661072"/>
            <a:ext cx="217732" cy="217732"/>
          </a:xfrm>
          <a:custGeom>
            <a:avLst/>
            <a:gdLst/>
            <a:ahLst/>
            <a:cxnLst/>
            <a:rect r="r" b="b" t="t" l="l"/>
            <a:pathLst>
              <a:path h="217732" w="217732">
                <a:moveTo>
                  <a:pt x="0" y="0"/>
                </a:moveTo>
                <a:lnTo>
                  <a:pt x="217732" y="0"/>
                </a:lnTo>
                <a:lnTo>
                  <a:pt x="217732" y="217732"/>
                </a:lnTo>
                <a:lnTo>
                  <a:pt x="0" y="21773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2174" t="0" r="-2174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762152" y="7975254"/>
            <a:ext cx="8116195" cy="28575"/>
            <a:chOff x="0" y="0"/>
            <a:chExt cx="10821594" cy="381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821543" cy="38100"/>
            </a:xfrm>
            <a:custGeom>
              <a:avLst/>
              <a:gdLst/>
              <a:ahLst/>
              <a:cxnLst/>
              <a:rect r="r" b="b" t="t" l="l"/>
              <a:pathLst>
                <a:path h="38100" w="10821543">
                  <a:moveTo>
                    <a:pt x="0" y="0"/>
                  </a:moveTo>
                  <a:lnTo>
                    <a:pt x="10821543" y="0"/>
                  </a:lnTo>
                  <a:lnTo>
                    <a:pt x="1082154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A2B9F9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762152" y="8112623"/>
            <a:ext cx="908209" cy="47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3"/>
              </a:lnSpc>
            </a:pPr>
            <a:r>
              <a:rPr lang="en-US" sz="2924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Maps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62152" y="8601075"/>
            <a:ext cx="8116195" cy="387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Google Maps API for location services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419187" y="2039388"/>
            <a:ext cx="3705582" cy="515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3"/>
              </a:lnSpc>
            </a:pPr>
            <a:r>
              <a:rPr lang="en-US" sz="3162">
                <a:solidFill>
                  <a:srgbClr val="3F6FF3"/>
                </a:solidFill>
                <a:latin typeface="Arimo"/>
                <a:ea typeface="Arimo"/>
                <a:cs typeface="Arimo"/>
                <a:sym typeface="Arimo"/>
              </a:rPr>
              <a:t>IoT Integration Layer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414424" y="2669086"/>
            <a:ext cx="499472" cy="499472"/>
            <a:chOff x="0" y="0"/>
            <a:chExt cx="665963" cy="66596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6350" y="6350"/>
              <a:ext cx="653288" cy="653288"/>
            </a:xfrm>
            <a:custGeom>
              <a:avLst/>
              <a:gdLst/>
              <a:ahLst/>
              <a:cxnLst/>
              <a:rect r="r" b="b" t="t" l="l"/>
              <a:pathLst>
                <a:path h="653288" w="653288">
                  <a:moveTo>
                    <a:pt x="0" y="261366"/>
                  </a:moveTo>
                  <a:cubicBezTo>
                    <a:pt x="0" y="116967"/>
                    <a:pt x="116967" y="0"/>
                    <a:pt x="261366" y="0"/>
                  </a:cubicBezTo>
                  <a:lnTo>
                    <a:pt x="391922" y="0"/>
                  </a:lnTo>
                  <a:cubicBezTo>
                    <a:pt x="536194" y="0"/>
                    <a:pt x="653288" y="116967"/>
                    <a:pt x="653288" y="261366"/>
                  </a:cubicBezTo>
                  <a:lnTo>
                    <a:pt x="653288" y="391922"/>
                  </a:lnTo>
                  <a:cubicBezTo>
                    <a:pt x="653288" y="536321"/>
                    <a:pt x="536321" y="653288"/>
                    <a:pt x="391922" y="653288"/>
                  </a:cubicBezTo>
                  <a:lnTo>
                    <a:pt x="261366" y="653288"/>
                  </a:lnTo>
                  <a:cubicBezTo>
                    <a:pt x="116967" y="653288"/>
                    <a:pt x="0" y="536194"/>
                    <a:pt x="0" y="391922"/>
                  </a:cubicBezTo>
                  <a:close/>
                </a:path>
              </a:pathLst>
            </a:custGeom>
            <a:solidFill>
              <a:srgbClr val="CFDBFC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65988" cy="665988"/>
            </a:xfrm>
            <a:custGeom>
              <a:avLst/>
              <a:gdLst/>
              <a:ahLst/>
              <a:cxnLst/>
              <a:rect r="r" b="b" t="t" l="l"/>
              <a:pathLst>
                <a:path h="665988" w="665988">
                  <a:moveTo>
                    <a:pt x="0" y="267716"/>
                  </a:moveTo>
                  <a:cubicBezTo>
                    <a:pt x="0" y="119888"/>
                    <a:pt x="119888" y="0"/>
                    <a:pt x="267716" y="0"/>
                  </a:cubicBezTo>
                  <a:lnTo>
                    <a:pt x="398272" y="0"/>
                  </a:lnTo>
                  <a:lnTo>
                    <a:pt x="398272" y="6350"/>
                  </a:lnTo>
                  <a:lnTo>
                    <a:pt x="398272" y="0"/>
                  </a:lnTo>
                  <a:lnTo>
                    <a:pt x="398272" y="6350"/>
                  </a:lnTo>
                  <a:lnTo>
                    <a:pt x="398272" y="0"/>
                  </a:lnTo>
                  <a:cubicBezTo>
                    <a:pt x="546100" y="0"/>
                    <a:pt x="665988" y="119888"/>
                    <a:pt x="665988" y="267716"/>
                  </a:cubicBezTo>
                  <a:lnTo>
                    <a:pt x="665988" y="398272"/>
                  </a:lnTo>
                  <a:lnTo>
                    <a:pt x="659638" y="398272"/>
                  </a:lnTo>
                  <a:lnTo>
                    <a:pt x="665988" y="398272"/>
                  </a:lnTo>
                  <a:cubicBezTo>
                    <a:pt x="665988" y="546100"/>
                    <a:pt x="546100" y="665988"/>
                    <a:pt x="398272" y="665988"/>
                  </a:cubicBezTo>
                  <a:lnTo>
                    <a:pt x="398272" y="659638"/>
                  </a:lnTo>
                  <a:lnTo>
                    <a:pt x="398272" y="665988"/>
                  </a:lnTo>
                  <a:lnTo>
                    <a:pt x="267716" y="665988"/>
                  </a:lnTo>
                  <a:lnTo>
                    <a:pt x="267716" y="659638"/>
                  </a:lnTo>
                  <a:lnTo>
                    <a:pt x="267716" y="665988"/>
                  </a:lnTo>
                  <a:cubicBezTo>
                    <a:pt x="119888" y="665988"/>
                    <a:pt x="0" y="546100"/>
                    <a:pt x="0" y="398272"/>
                  </a:cubicBezTo>
                  <a:lnTo>
                    <a:pt x="0" y="267716"/>
                  </a:lnTo>
                  <a:lnTo>
                    <a:pt x="6350" y="267716"/>
                  </a:lnTo>
                  <a:lnTo>
                    <a:pt x="0" y="267716"/>
                  </a:lnTo>
                  <a:moveTo>
                    <a:pt x="12700" y="267716"/>
                  </a:moveTo>
                  <a:lnTo>
                    <a:pt x="12700" y="398272"/>
                  </a:lnTo>
                  <a:lnTo>
                    <a:pt x="6350" y="398272"/>
                  </a:lnTo>
                  <a:lnTo>
                    <a:pt x="12700" y="398272"/>
                  </a:lnTo>
                  <a:cubicBezTo>
                    <a:pt x="12700" y="539115"/>
                    <a:pt x="126873" y="653288"/>
                    <a:pt x="267716" y="653288"/>
                  </a:cubicBezTo>
                  <a:lnTo>
                    <a:pt x="398272" y="653288"/>
                  </a:lnTo>
                  <a:cubicBezTo>
                    <a:pt x="539115" y="653288"/>
                    <a:pt x="653288" y="539115"/>
                    <a:pt x="653288" y="398272"/>
                  </a:cubicBezTo>
                  <a:lnTo>
                    <a:pt x="653288" y="267716"/>
                  </a:lnTo>
                  <a:lnTo>
                    <a:pt x="659638" y="267716"/>
                  </a:lnTo>
                  <a:lnTo>
                    <a:pt x="653288" y="267716"/>
                  </a:lnTo>
                  <a:cubicBezTo>
                    <a:pt x="653288" y="126873"/>
                    <a:pt x="539115" y="12700"/>
                    <a:pt x="398272" y="12700"/>
                  </a:cubicBezTo>
                  <a:lnTo>
                    <a:pt x="267716" y="12700"/>
                  </a:lnTo>
                  <a:lnTo>
                    <a:pt x="267716" y="6350"/>
                  </a:lnTo>
                  <a:lnTo>
                    <a:pt x="267716" y="12700"/>
                  </a:lnTo>
                  <a:cubicBezTo>
                    <a:pt x="126873" y="12700"/>
                    <a:pt x="12700" y="126873"/>
                    <a:pt x="12700" y="267716"/>
                  </a:cubicBezTo>
                  <a:close/>
                </a:path>
              </a:pathLst>
            </a:custGeom>
            <a:solidFill>
              <a:srgbClr val="B5C1E2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0076412" y="2720130"/>
            <a:ext cx="2233017" cy="454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9"/>
              </a:lnSpc>
            </a:pPr>
            <a:r>
              <a:rPr lang="en-US" sz="2824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GPS Tracking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076412" y="3208582"/>
            <a:ext cx="7458970" cy="38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2"/>
              </a:lnSpc>
            </a:pPr>
            <a:r>
              <a:rPr lang="en-US" sz="2289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Real-time movement monitoring with geofencing alerts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414424" y="3893934"/>
            <a:ext cx="499472" cy="499472"/>
            <a:chOff x="0" y="0"/>
            <a:chExt cx="665963" cy="66596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6350" y="6350"/>
              <a:ext cx="653288" cy="653288"/>
            </a:xfrm>
            <a:custGeom>
              <a:avLst/>
              <a:gdLst/>
              <a:ahLst/>
              <a:cxnLst/>
              <a:rect r="r" b="b" t="t" l="l"/>
              <a:pathLst>
                <a:path h="653288" w="653288">
                  <a:moveTo>
                    <a:pt x="0" y="261366"/>
                  </a:moveTo>
                  <a:cubicBezTo>
                    <a:pt x="0" y="116967"/>
                    <a:pt x="116967" y="0"/>
                    <a:pt x="261366" y="0"/>
                  </a:cubicBezTo>
                  <a:lnTo>
                    <a:pt x="391922" y="0"/>
                  </a:lnTo>
                  <a:cubicBezTo>
                    <a:pt x="536194" y="0"/>
                    <a:pt x="653288" y="116967"/>
                    <a:pt x="653288" y="261366"/>
                  </a:cubicBezTo>
                  <a:lnTo>
                    <a:pt x="653288" y="391922"/>
                  </a:lnTo>
                  <a:cubicBezTo>
                    <a:pt x="653288" y="536321"/>
                    <a:pt x="536321" y="653288"/>
                    <a:pt x="391922" y="653288"/>
                  </a:cubicBezTo>
                  <a:lnTo>
                    <a:pt x="261366" y="653288"/>
                  </a:lnTo>
                  <a:cubicBezTo>
                    <a:pt x="116967" y="653288"/>
                    <a:pt x="0" y="536194"/>
                    <a:pt x="0" y="391922"/>
                  </a:cubicBezTo>
                  <a:close/>
                </a:path>
              </a:pathLst>
            </a:custGeom>
            <a:solidFill>
              <a:srgbClr val="CFDBFC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65988" cy="665988"/>
            </a:xfrm>
            <a:custGeom>
              <a:avLst/>
              <a:gdLst/>
              <a:ahLst/>
              <a:cxnLst/>
              <a:rect r="r" b="b" t="t" l="l"/>
              <a:pathLst>
                <a:path h="665988" w="665988">
                  <a:moveTo>
                    <a:pt x="0" y="267716"/>
                  </a:moveTo>
                  <a:cubicBezTo>
                    <a:pt x="0" y="119888"/>
                    <a:pt x="119888" y="0"/>
                    <a:pt x="267716" y="0"/>
                  </a:cubicBezTo>
                  <a:lnTo>
                    <a:pt x="398272" y="0"/>
                  </a:lnTo>
                  <a:lnTo>
                    <a:pt x="398272" y="6350"/>
                  </a:lnTo>
                  <a:lnTo>
                    <a:pt x="398272" y="0"/>
                  </a:lnTo>
                  <a:lnTo>
                    <a:pt x="398272" y="6350"/>
                  </a:lnTo>
                  <a:lnTo>
                    <a:pt x="398272" y="0"/>
                  </a:lnTo>
                  <a:cubicBezTo>
                    <a:pt x="546100" y="0"/>
                    <a:pt x="665988" y="119888"/>
                    <a:pt x="665988" y="267716"/>
                  </a:cubicBezTo>
                  <a:lnTo>
                    <a:pt x="665988" y="398272"/>
                  </a:lnTo>
                  <a:lnTo>
                    <a:pt x="659638" y="398272"/>
                  </a:lnTo>
                  <a:lnTo>
                    <a:pt x="665988" y="398272"/>
                  </a:lnTo>
                  <a:cubicBezTo>
                    <a:pt x="665988" y="546100"/>
                    <a:pt x="546100" y="665988"/>
                    <a:pt x="398272" y="665988"/>
                  </a:cubicBezTo>
                  <a:lnTo>
                    <a:pt x="398272" y="659638"/>
                  </a:lnTo>
                  <a:lnTo>
                    <a:pt x="398272" y="665988"/>
                  </a:lnTo>
                  <a:lnTo>
                    <a:pt x="267716" y="665988"/>
                  </a:lnTo>
                  <a:lnTo>
                    <a:pt x="267716" y="659638"/>
                  </a:lnTo>
                  <a:lnTo>
                    <a:pt x="267716" y="665988"/>
                  </a:lnTo>
                  <a:cubicBezTo>
                    <a:pt x="119888" y="665988"/>
                    <a:pt x="0" y="546100"/>
                    <a:pt x="0" y="398272"/>
                  </a:cubicBezTo>
                  <a:lnTo>
                    <a:pt x="0" y="267716"/>
                  </a:lnTo>
                  <a:lnTo>
                    <a:pt x="6350" y="267716"/>
                  </a:lnTo>
                  <a:lnTo>
                    <a:pt x="0" y="267716"/>
                  </a:lnTo>
                  <a:moveTo>
                    <a:pt x="12700" y="267716"/>
                  </a:moveTo>
                  <a:lnTo>
                    <a:pt x="12700" y="398272"/>
                  </a:lnTo>
                  <a:lnTo>
                    <a:pt x="6350" y="398272"/>
                  </a:lnTo>
                  <a:lnTo>
                    <a:pt x="12700" y="398272"/>
                  </a:lnTo>
                  <a:cubicBezTo>
                    <a:pt x="12700" y="539115"/>
                    <a:pt x="126873" y="653288"/>
                    <a:pt x="267716" y="653288"/>
                  </a:cubicBezTo>
                  <a:lnTo>
                    <a:pt x="398272" y="653288"/>
                  </a:lnTo>
                  <a:cubicBezTo>
                    <a:pt x="539115" y="653288"/>
                    <a:pt x="653288" y="539115"/>
                    <a:pt x="653288" y="398272"/>
                  </a:cubicBezTo>
                  <a:lnTo>
                    <a:pt x="653288" y="267716"/>
                  </a:lnTo>
                  <a:lnTo>
                    <a:pt x="659638" y="267716"/>
                  </a:lnTo>
                  <a:lnTo>
                    <a:pt x="653288" y="267716"/>
                  </a:lnTo>
                  <a:cubicBezTo>
                    <a:pt x="653288" y="126873"/>
                    <a:pt x="539115" y="12700"/>
                    <a:pt x="398272" y="12700"/>
                  </a:cubicBezTo>
                  <a:lnTo>
                    <a:pt x="267716" y="12700"/>
                  </a:lnTo>
                  <a:lnTo>
                    <a:pt x="267716" y="6350"/>
                  </a:lnTo>
                  <a:lnTo>
                    <a:pt x="267716" y="12700"/>
                  </a:lnTo>
                  <a:cubicBezTo>
                    <a:pt x="126873" y="12700"/>
                    <a:pt x="12700" y="126873"/>
                    <a:pt x="12700" y="267716"/>
                  </a:cubicBezTo>
                  <a:close/>
                </a:path>
              </a:pathLst>
            </a:custGeom>
            <a:solidFill>
              <a:srgbClr val="B5C1E2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0076412" y="3944988"/>
            <a:ext cx="2476738" cy="45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5"/>
              </a:lnSpc>
            </a:pPr>
            <a:r>
              <a:rPr lang="en-US" sz="2829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Fuel Monitoring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076412" y="4433440"/>
            <a:ext cx="7458970" cy="38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2"/>
              </a:lnSpc>
            </a:pPr>
            <a:r>
              <a:rPr lang="en-US" sz="2289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Simulated data tracking consumption patterns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414424" y="5118792"/>
            <a:ext cx="499472" cy="499472"/>
            <a:chOff x="0" y="0"/>
            <a:chExt cx="665963" cy="66596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6350" y="6350"/>
              <a:ext cx="653288" cy="653288"/>
            </a:xfrm>
            <a:custGeom>
              <a:avLst/>
              <a:gdLst/>
              <a:ahLst/>
              <a:cxnLst/>
              <a:rect r="r" b="b" t="t" l="l"/>
              <a:pathLst>
                <a:path h="653288" w="653288">
                  <a:moveTo>
                    <a:pt x="0" y="261366"/>
                  </a:moveTo>
                  <a:cubicBezTo>
                    <a:pt x="0" y="116967"/>
                    <a:pt x="116967" y="0"/>
                    <a:pt x="261366" y="0"/>
                  </a:cubicBezTo>
                  <a:lnTo>
                    <a:pt x="391922" y="0"/>
                  </a:lnTo>
                  <a:cubicBezTo>
                    <a:pt x="536194" y="0"/>
                    <a:pt x="653288" y="116967"/>
                    <a:pt x="653288" y="261366"/>
                  </a:cubicBezTo>
                  <a:lnTo>
                    <a:pt x="653288" y="391922"/>
                  </a:lnTo>
                  <a:cubicBezTo>
                    <a:pt x="653288" y="536321"/>
                    <a:pt x="536321" y="653288"/>
                    <a:pt x="391922" y="653288"/>
                  </a:cubicBezTo>
                  <a:lnTo>
                    <a:pt x="261366" y="653288"/>
                  </a:lnTo>
                  <a:cubicBezTo>
                    <a:pt x="116967" y="653288"/>
                    <a:pt x="0" y="536194"/>
                    <a:pt x="0" y="391922"/>
                  </a:cubicBezTo>
                  <a:close/>
                </a:path>
              </a:pathLst>
            </a:custGeom>
            <a:solidFill>
              <a:srgbClr val="CFDBFC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65988" cy="665988"/>
            </a:xfrm>
            <a:custGeom>
              <a:avLst/>
              <a:gdLst/>
              <a:ahLst/>
              <a:cxnLst/>
              <a:rect r="r" b="b" t="t" l="l"/>
              <a:pathLst>
                <a:path h="665988" w="665988">
                  <a:moveTo>
                    <a:pt x="0" y="267716"/>
                  </a:moveTo>
                  <a:cubicBezTo>
                    <a:pt x="0" y="119888"/>
                    <a:pt x="119888" y="0"/>
                    <a:pt x="267716" y="0"/>
                  </a:cubicBezTo>
                  <a:lnTo>
                    <a:pt x="398272" y="0"/>
                  </a:lnTo>
                  <a:lnTo>
                    <a:pt x="398272" y="6350"/>
                  </a:lnTo>
                  <a:lnTo>
                    <a:pt x="398272" y="0"/>
                  </a:lnTo>
                  <a:lnTo>
                    <a:pt x="398272" y="6350"/>
                  </a:lnTo>
                  <a:lnTo>
                    <a:pt x="398272" y="0"/>
                  </a:lnTo>
                  <a:cubicBezTo>
                    <a:pt x="546100" y="0"/>
                    <a:pt x="665988" y="119888"/>
                    <a:pt x="665988" y="267716"/>
                  </a:cubicBezTo>
                  <a:lnTo>
                    <a:pt x="665988" y="398272"/>
                  </a:lnTo>
                  <a:lnTo>
                    <a:pt x="659638" y="398272"/>
                  </a:lnTo>
                  <a:lnTo>
                    <a:pt x="665988" y="398272"/>
                  </a:lnTo>
                  <a:cubicBezTo>
                    <a:pt x="665988" y="546100"/>
                    <a:pt x="546100" y="665988"/>
                    <a:pt x="398272" y="665988"/>
                  </a:cubicBezTo>
                  <a:lnTo>
                    <a:pt x="398272" y="659638"/>
                  </a:lnTo>
                  <a:lnTo>
                    <a:pt x="398272" y="665988"/>
                  </a:lnTo>
                  <a:lnTo>
                    <a:pt x="267716" y="665988"/>
                  </a:lnTo>
                  <a:lnTo>
                    <a:pt x="267716" y="659638"/>
                  </a:lnTo>
                  <a:lnTo>
                    <a:pt x="267716" y="665988"/>
                  </a:lnTo>
                  <a:cubicBezTo>
                    <a:pt x="119888" y="665988"/>
                    <a:pt x="0" y="546100"/>
                    <a:pt x="0" y="398272"/>
                  </a:cubicBezTo>
                  <a:lnTo>
                    <a:pt x="0" y="267716"/>
                  </a:lnTo>
                  <a:lnTo>
                    <a:pt x="6350" y="267716"/>
                  </a:lnTo>
                  <a:lnTo>
                    <a:pt x="0" y="267716"/>
                  </a:lnTo>
                  <a:moveTo>
                    <a:pt x="12700" y="267716"/>
                  </a:moveTo>
                  <a:lnTo>
                    <a:pt x="12700" y="398272"/>
                  </a:lnTo>
                  <a:lnTo>
                    <a:pt x="6350" y="398272"/>
                  </a:lnTo>
                  <a:lnTo>
                    <a:pt x="12700" y="398272"/>
                  </a:lnTo>
                  <a:cubicBezTo>
                    <a:pt x="12700" y="539115"/>
                    <a:pt x="126873" y="653288"/>
                    <a:pt x="267716" y="653288"/>
                  </a:cubicBezTo>
                  <a:lnTo>
                    <a:pt x="398272" y="653288"/>
                  </a:lnTo>
                  <a:cubicBezTo>
                    <a:pt x="539115" y="653288"/>
                    <a:pt x="653288" y="539115"/>
                    <a:pt x="653288" y="398272"/>
                  </a:cubicBezTo>
                  <a:lnTo>
                    <a:pt x="653288" y="267716"/>
                  </a:lnTo>
                  <a:lnTo>
                    <a:pt x="659638" y="267716"/>
                  </a:lnTo>
                  <a:lnTo>
                    <a:pt x="653288" y="267716"/>
                  </a:lnTo>
                  <a:cubicBezTo>
                    <a:pt x="653288" y="126873"/>
                    <a:pt x="539115" y="12700"/>
                    <a:pt x="398272" y="12700"/>
                  </a:cubicBezTo>
                  <a:lnTo>
                    <a:pt x="267716" y="12700"/>
                  </a:lnTo>
                  <a:lnTo>
                    <a:pt x="267716" y="6350"/>
                  </a:lnTo>
                  <a:lnTo>
                    <a:pt x="267716" y="12700"/>
                  </a:lnTo>
                  <a:cubicBezTo>
                    <a:pt x="126873" y="12700"/>
                    <a:pt x="12700" y="126873"/>
                    <a:pt x="12700" y="267716"/>
                  </a:cubicBezTo>
                  <a:close/>
                </a:path>
              </a:pathLst>
            </a:custGeom>
            <a:solidFill>
              <a:srgbClr val="B5C1E2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0076412" y="5169846"/>
            <a:ext cx="2576632" cy="45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5"/>
              </a:lnSpc>
            </a:pPr>
            <a:r>
              <a:rPr lang="en-US" sz="2829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Usage Analytics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076412" y="5658298"/>
            <a:ext cx="7458970" cy="38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2"/>
              </a:lnSpc>
            </a:pPr>
            <a:r>
              <a:rPr lang="en-US" sz="2289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Hours used, distance covered, and operational efficiency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9414424" y="6343650"/>
            <a:ext cx="499472" cy="499472"/>
            <a:chOff x="0" y="0"/>
            <a:chExt cx="665963" cy="66596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6350" y="6350"/>
              <a:ext cx="653288" cy="653288"/>
            </a:xfrm>
            <a:custGeom>
              <a:avLst/>
              <a:gdLst/>
              <a:ahLst/>
              <a:cxnLst/>
              <a:rect r="r" b="b" t="t" l="l"/>
              <a:pathLst>
                <a:path h="653288" w="653288">
                  <a:moveTo>
                    <a:pt x="0" y="261366"/>
                  </a:moveTo>
                  <a:cubicBezTo>
                    <a:pt x="0" y="116967"/>
                    <a:pt x="116967" y="0"/>
                    <a:pt x="261366" y="0"/>
                  </a:cubicBezTo>
                  <a:lnTo>
                    <a:pt x="391922" y="0"/>
                  </a:lnTo>
                  <a:cubicBezTo>
                    <a:pt x="536194" y="0"/>
                    <a:pt x="653288" y="116967"/>
                    <a:pt x="653288" y="261366"/>
                  </a:cubicBezTo>
                  <a:lnTo>
                    <a:pt x="653288" y="391922"/>
                  </a:lnTo>
                  <a:cubicBezTo>
                    <a:pt x="653288" y="536321"/>
                    <a:pt x="536321" y="653288"/>
                    <a:pt x="391922" y="653288"/>
                  </a:cubicBezTo>
                  <a:lnTo>
                    <a:pt x="261366" y="653288"/>
                  </a:lnTo>
                  <a:cubicBezTo>
                    <a:pt x="116967" y="653288"/>
                    <a:pt x="0" y="536194"/>
                    <a:pt x="0" y="391922"/>
                  </a:cubicBezTo>
                  <a:close/>
                </a:path>
              </a:pathLst>
            </a:custGeom>
            <a:solidFill>
              <a:srgbClr val="CFDBFC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65988" cy="665988"/>
            </a:xfrm>
            <a:custGeom>
              <a:avLst/>
              <a:gdLst/>
              <a:ahLst/>
              <a:cxnLst/>
              <a:rect r="r" b="b" t="t" l="l"/>
              <a:pathLst>
                <a:path h="665988" w="665988">
                  <a:moveTo>
                    <a:pt x="0" y="267716"/>
                  </a:moveTo>
                  <a:cubicBezTo>
                    <a:pt x="0" y="119888"/>
                    <a:pt x="119888" y="0"/>
                    <a:pt x="267716" y="0"/>
                  </a:cubicBezTo>
                  <a:lnTo>
                    <a:pt x="398272" y="0"/>
                  </a:lnTo>
                  <a:lnTo>
                    <a:pt x="398272" y="6350"/>
                  </a:lnTo>
                  <a:lnTo>
                    <a:pt x="398272" y="0"/>
                  </a:lnTo>
                  <a:lnTo>
                    <a:pt x="398272" y="6350"/>
                  </a:lnTo>
                  <a:lnTo>
                    <a:pt x="398272" y="0"/>
                  </a:lnTo>
                  <a:cubicBezTo>
                    <a:pt x="546100" y="0"/>
                    <a:pt x="665988" y="119888"/>
                    <a:pt x="665988" y="267716"/>
                  </a:cubicBezTo>
                  <a:lnTo>
                    <a:pt x="665988" y="398272"/>
                  </a:lnTo>
                  <a:lnTo>
                    <a:pt x="659638" y="398272"/>
                  </a:lnTo>
                  <a:lnTo>
                    <a:pt x="665988" y="398272"/>
                  </a:lnTo>
                  <a:cubicBezTo>
                    <a:pt x="665988" y="546100"/>
                    <a:pt x="546100" y="665988"/>
                    <a:pt x="398272" y="665988"/>
                  </a:cubicBezTo>
                  <a:lnTo>
                    <a:pt x="398272" y="659638"/>
                  </a:lnTo>
                  <a:lnTo>
                    <a:pt x="398272" y="665988"/>
                  </a:lnTo>
                  <a:lnTo>
                    <a:pt x="267716" y="665988"/>
                  </a:lnTo>
                  <a:lnTo>
                    <a:pt x="267716" y="659638"/>
                  </a:lnTo>
                  <a:lnTo>
                    <a:pt x="267716" y="665988"/>
                  </a:lnTo>
                  <a:cubicBezTo>
                    <a:pt x="119888" y="665988"/>
                    <a:pt x="0" y="546100"/>
                    <a:pt x="0" y="398272"/>
                  </a:cubicBezTo>
                  <a:lnTo>
                    <a:pt x="0" y="267716"/>
                  </a:lnTo>
                  <a:lnTo>
                    <a:pt x="6350" y="267716"/>
                  </a:lnTo>
                  <a:lnTo>
                    <a:pt x="0" y="267716"/>
                  </a:lnTo>
                  <a:moveTo>
                    <a:pt x="12700" y="267716"/>
                  </a:moveTo>
                  <a:lnTo>
                    <a:pt x="12700" y="398272"/>
                  </a:lnTo>
                  <a:lnTo>
                    <a:pt x="6350" y="398272"/>
                  </a:lnTo>
                  <a:lnTo>
                    <a:pt x="12700" y="398272"/>
                  </a:lnTo>
                  <a:cubicBezTo>
                    <a:pt x="12700" y="539115"/>
                    <a:pt x="126873" y="653288"/>
                    <a:pt x="267716" y="653288"/>
                  </a:cubicBezTo>
                  <a:lnTo>
                    <a:pt x="398272" y="653288"/>
                  </a:lnTo>
                  <a:cubicBezTo>
                    <a:pt x="539115" y="653288"/>
                    <a:pt x="653288" y="539115"/>
                    <a:pt x="653288" y="398272"/>
                  </a:cubicBezTo>
                  <a:lnTo>
                    <a:pt x="653288" y="267716"/>
                  </a:lnTo>
                  <a:lnTo>
                    <a:pt x="659638" y="267716"/>
                  </a:lnTo>
                  <a:lnTo>
                    <a:pt x="653288" y="267716"/>
                  </a:lnTo>
                  <a:cubicBezTo>
                    <a:pt x="653288" y="126873"/>
                    <a:pt x="539115" y="12700"/>
                    <a:pt x="398272" y="12700"/>
                  </a:cubicBezTo>
                  <a:lnTo>
                    <a:pt x="267716" y="12700"/>
                  </a:lnTo>
                  <a:lnTo>
                    <a:pt x="267716" y="6350"/>
                  </a:lnTo>
                  <a:lnTo>
                    <a:pt x="267716" y="12700"/>
                  </a:lnTo>
                  <a:cubicBezTo>
                    <a:pt x="126873" y="12700"/>
                    <a:pt x="12700" y="126873"/>
                    <a:pt x="12700" y="267716"/>
                  </a:cubicBezTo>
                  <a:close/>
                </a:path>
              </a:pathLst>
            </a:custGeom>
            <a:solidFill>
              <a:srgbClr val="B5C1E2"/>
            </a:solid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10076412" y="6394694"/>
            <a:ext cx="2636996" cy="45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5"/>
              </a:lnSpc>
            </a:pPr>
            <a:r>
              <a:rPr lang="en-US" sz="2829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Abuse Detection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076412" y="6883156"/>
            <a:ext cx="7458970" cy="38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2"/>
              </a:lnSpc>
            </a:pPr>
            <a:r>
              <a:rPr lang="en-US" sz="2289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Automated alerts for misuse or unauthorised usage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1028548"/>
            <a:ext cx="708823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3F6FF3"/>
                </a:solidFill>
                <a:latin typeface="Arimo"/>
                <a:ea typeface="Arimo"/>
                <a:cs typeface="Arimo"/>
                <a:sym typeface="Arimo"/>
              </a:rPr>
              <a:t>System Architecture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92238" y="2396881"/>
            <a:ext cx="1417587" cy="1701108"/>
            <a:chOff x="0" y="0"/>
            <a:chExt cx="1890116" cy="2268144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890141" cy="2268093"/>
            </a:xfrm>
            <a:custGeom>
              <a:avLst/>
              <a:gdLst/>
              <a:ahLst/>
              <a:cxnLst/>
              <a:rect r="r" b="b" t="t" l="l"/>
              <a:pathLst>
                <a:path h="2268093" w="1890141">
                  <a:moveTo>
                    <a:pt x="0" y="0"/>
                  </a:moveTo>
                  <a:lnTo>
                    <a:pt x="1890141" y="0"/>
                  </a:lnTo>
                  <a:lnTo>
                    <a:pt x="1890141" y="2268093"/>
                  </a:lnTo>
                  <a:lnTo>
                    <a:pt x="0" y="2268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55" r="1" b="-57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693346" y="2642292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User App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693346" y="3207696"/>
            <a:ext cx="7744416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Booking interface and live equipment tracking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92238" y="4097979"/>
            <a:ext cx="1417587" cy="1701108"/>
            <a:chOff x="0" y="0"/>
            <a:chExt cx="1890116" cy="2268144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890141" cy="2268093"/>
            </a:xfrm>
            <a:custGeom>
              <a:avLst/>
              <a:gdLst/>
              <a:ahLst/>
              <a:cxnLst/>
              <a:rect r="r" b="b" t="t" l="l"/>
              <a:pathLst>
                <a:path h="2268093" w="1890141">
                  <a:moveTo>
                    <a:pt x="0" y="0"/>
                  </a:moveTo>
                  <a:lnTo>
                    <a:pt x="1890141" y="0"/>
                  </a:lnTo>
                  <a:lnTo>
                    <a:pt x="1890141" y="2268093"/>
                  </a:lnTo>
                  <a:lnTo>
                    <a:pt x="0" y="2268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55" r="1" b="-57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2693346" y="4343400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Owner Portal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693346" y="4908794"/>
            <a:ext cx="7744416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List vehicles and manage availability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92238" y="5799087"/>
            <a:ext cx="1417587" cy="1701108"/>
            <a:chOff x="0" y="0"/>
            <a:chExt cx="1890116" cy="2268144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890141" cy="2268093"/>
            </a:xfrm>
            <a:custGeom>
              <a:avLst/>
              <a:gdLst/>
              <a:ahLst/>
              <a:cxnLst/>
              <a:rect r="r" b="b" t="t" l="l"/>
              <a:pathLst>
                <a:path h="2268093" w="1890141">
                  <a:moveTo>
                    <a:pt x="0" y="0"/>
                  </a:moveTo>
                  <a:lnTo>
                    <a:pt x="1890141" y="0"/>
                  </a:lnTo>
                  <a:lnTo>
                    <a:pt x="1890141" y="2268093"/>
                  </a:lnTo>
                  <a:lnTo>
                    <a:pt x="0" y="2268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55" r="1" b="-57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2693346" y="6044508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Matching Engine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693346" y="6609902"/>
            <a:ext cx="7744416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Smart pricing and demand pairing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92238" y="7500195"/>
            <a:ext cx="1417587" cy="1701108"/>
            <a:chOff x="0" y="0"/>
            <a:chExt cx="1890116" cy="2268144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1890141" cy="2268093"/>
            </a:xfrm>
            <a:custGeom>
              <a:avLst/>
              <a:gdLst/>
              <a:ahLst/>
              <a:cxnLst/>
              <a:rect r="r" b="b" t="t" l="l"/>
              <a:pathLst>
                <a:path h="2268093" w="1890141">
                  <a:moveTo>
                    <a:pt x="0" y="0"/>
                  </a:moveTo>
                  <a:lnTo>
                    <a:pt x="1890141" y="0"/>
                  </a:lnTo>
                  <a:lnTo>
                    <a:pt x="1890141" y="2268093"/>
                  </a:lnTo>
                  <a:lnTo>
                    <a:pt x="0" y="2268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55" r="1" b="-57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2693346" y="7745616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Admin Dashboard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693346" y="8311010"/>
            <a:ext cx="7744416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Analytics and system monitoring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447057"/>
            <a:ext cx="708823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3F6FF3"/>
                </a:solidFill>
                <a:latin typeface="Arimo"/>
                <a:ea typeface="Arimo"/>
                <a:cs typeface="Arimo"/>
                <a:sym typeface="Arimo"/>
              </a:rPr>
              <a:t>SWOT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060802"/>
            <a:ext cx="4252912" cy="56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4F8F3A"/>
                </a:solidFill>
                <a:latin typeface="Arimo Bold"/>
                <a:ea typeface="Arimo Bold"/>
                <a:cs typeface="Arimo Bold"/>
                <a:sym typeface="Arimo Bold"/>
              </a:rPr>
              <a:t>Strengths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3828307"/>
            <a:ext cx="7805890" cy="2197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Solves genuine rural equipment access problem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Scalable platform architecture with growth potential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Asset-light business model reduces capital requirements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IoT-enabled monitoring increases trust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6271317"/>
            <a:ext cx="4252912" cy="56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C2185B"/>
                </a:solidFill>
                <a:latin typeface="Arimo Bold"/>
                <a:ea typeface="Arimo Bold"/>
                <a:cs typeface="Arimo Bold"/>
                <a:sym typeface="Arimo Bold"/>
              </a:rPr>
              <a:t>Weaknesses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7038823"/>
            <a:ext cx="7805890" cy="1644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Logistics complexity in rural areas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Network dependency in low-connectivity regions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Operator training and quality control challenges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99397" y="3060802"/>
            <a:ext cx="4252912" cy="56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00838F"/>
                </a:solidFill>
                <a:latin typeface="Arimo Bold"/>
                <a:ea typeface="Arimo Bold"/>
                <a:cs typeface="Arimo Bold"/>
                <a:sym typeface="Arimo Bold"/>
              </a:rPr>
              <a:t>Opportunities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99397" y="3828307"/>
            <a:ext cx="7805890" cy="2197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Growing agri-tech market with increasing adoption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Government support schemes for farmers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Expansion to construction and infrastructure sectors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Partnerships with equipment manufacturers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99397" y="6271317"/>
            <a:ext cx="4252912" cy="56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5E35B1"/>
                </a:solidFill>
                <a:latin typeface="Arimo Bold"/>
                <a:ea typeface="Arimo Bold"/>
                <a:cs typeface="Arimo Bold"/>
                <a:sym typeface="Arimo Bold"/>
              </a:rPr>
              <a:t>Threats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99397" y="7038823"/>
            <a:ext cx="7805890" cy="1644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Local unorganised rental competitors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Trust and maintenance concerns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Potential imitation by larger players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254453"/>
            <a:ext cx="708823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3F6FF3"/>
                </a:solidFill>
                <a:latin typeface="Arimo"/>
                <a:ea typeface="Arimo"/>
                <a:cs typeface="Arimo"/>
                <a:sym typeface="Arimo"/>
              </a:rPr>
              <a:t>Market Feasibility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3941712"/>
            <a:ext cx="2660447" cy="532809"/>
            <a:chOff x="0" y="0"/>
            <a:chExt cx="3547262" cy="71041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47237" cy="710438"/>
            </a:xfrm>
            <a:custGeom>
              <a:avLst/>
              <a:gdLst/>
              <a:ahLst/>
              <a:cxnLst/>
              <a:rect r="r" b="b" t="t" l="l"/>
              <a:pathLst>
                <a:path h="710438" w="3547237">
                  <a:moveTo>
                    <a:pt x="0" y="272161"/>
                  </a:moveTo>
                  <a:cubicBezTo>
                    <a:pt x="0" y="121920"/>
                    <a:pt x="121920" y="0"/>
                    <a:pt x="272161" y="0"/>
                  </a:cubicBezTo>
                  <a:lnTo>
                    <a:pt x="3275076" y="0"/>
                  </a:lnTo>
                  <a:cubicBezTo>
                    <a:pt x="3425444" y="0"/>
                    <a:pt x="3547237" y="121920"/>
                    <a:pt x="3547237" y="272161"/>
                  </a:cubicBezTo>
                  <a:lnTo>
                    <a:pt x="3547237" y="438277"/>
                  </a:lnTo>
                  <a:cubicBezTo>
                    <a:pt x="3547237" y="588645"/>
                    <a:pt x="3425317" y="710438"/>
                    <a:pt x="3275076" y="710438"/>
                  </a:cubicBezTo>
                  <a:lnTo>
                    <a:pt x="272161" y="710438"/>
                  </a:lnTo>
                  <a:cubicBezTo>
                    <a:pt x="121920" y="710438"/>
                    <a:pt x="0" y="588518"/>
                    <a:pt x="0" y="438277"/>
                  </a:cubicBezTo>
                  <a:close/>
                </a:path>
              </a:pathLst>
            </a:custGeom>
            <a:solidFill>
              <a:srgbClr val="CFDBFC"/>
            </a:solidFill>
          </p:spPr>
        </p:sp>
      </p:grpSp>
      <p:sp>
        <p:nvSpPr>
          <p:cNvPr name="Freeform 9" id="9" descr="preencoded.png"/>
          <p:cNvSpPr/>
          <p:nvPr/>
        </p:nvSpPr>
        <p:spPr>
          <a:xfrm flipH="false" flipV="false" rot="0">
            <a:off x="1162345" y="4094712"/>
            <a:ext cx="226809" cy="226809"/>
          </a:xfrm>
          <a:custGeom>
            <a:avLst/>
            <a:gdLst/>
            <a:ahLst/>
            <a:cxnLst/>
            <a:rect r="r" b="b" t="t" l="l"/>
            <a:pathLst>
              <a:path h="226809" w="226809">
                <a:moveTo>
                  <a:pt x="0" y="0"/>
                </a:moveTo>
                <a:lnTo>
                  <a:pt x="226810" y="0"/>
                </a:lnTo>
                <a:lnTo>
                  <a:pt x="226810" y="226809"/>
                </a:lnTo>
                <a:lnTo>
                  <a:pt x="0" y="226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4585" t="0" r="-14585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02569" y="3950494"/>
            <a:ext cx="1980009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TARGET AUDIENCE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707731"/>
            <a:ext cx="4916691" cy="1644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Farmers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Contractors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Equipment owners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610198" y="3941712"/>
            <a:ext cx="2539898" cy="532809"/>
            <a:chOff x="0" y="0"/>
            <a:chExt cx="3386531" cy="71041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86455" cy="710438"/>
            </a:xfrm>
            <a:custGeom>
              <a:avLst/>
              <a:gdLst/>
              <a:ahLst/>
              <a:cxnLst/>
              <a:rect r="r" b="b" t="t" l="l"/>
              <a:pathLst>
                <a:path h="710438" w="3386455">
                  <a:moveTo>
                    <a:pt x="0" y="272161"/>
                  </a:moveTo>
                  <a:cubicBezTo>
                    <a:pt x="0" y="121920"/>
                    <a:pt x="121920" y="0"/>
                    <a:pt x="272161" y="0"/>
                  </a:cubicBezTo>
                  <a:lnTo>
                    <a:pt x="3114294" y="0"/>
                  </a:lnTo>
                  <a:cubicBezTo>
                    <a:pt x="3264662" y="0"/>
                    <a:pt x="3386455" y="121920"/>
                    <a:pt x="3386455" y="272161"/>
                  </a:cubicBezTo>
                  <a:lnTo>
                    <a:pt x="3386455" y="438277"/>
                  </a:lnTo>
                  <a:cubicBezTo>
                    <a:pt x="3386455" y="588645"/>
                    <a:pt x="3264535" y="710438"/>
                    <a:pt x="3114294" y="710438"/>
                  </a:cubicBezTo>
                  <a:lnTo>
                    <a:pt x="272161" y="710438"/>
                  </a:lnTo>
                  <a:cubicBezTo>
                    <a:pt x="121920" y="710438"/>
                    <a:pt x="0" y="588518"/>
                    <a:pt x="0" y="438277"/>
                  </a:cubicBezTo>
                  <a:close/>
                </a:path>
              </a:pathLst>
            </a:custGeom>
            <a:solidFill>
              <a:srgbClr val="CFDBFC"/>
            </a:solidFill>
          </p:spPr>
        </p:sp>
      </p:grpSp>
      <p:sp>
        <p:nvSpPr>
          <p:cNvPr name="Freeform 14" id="14" descr="preencoded.png"/>
          <p:cNvSpPr/>
          <p:nvPr/>
        </p:nvSpPr>
        <p:spPr>
          <a:xfrm flipH="false" flipV="false" rot="0">
            <a:off x="6780314" y="4094712"/>
            <a:ext cx="226809" cy="226809"/>
          </a:xfrm>
          <a:custGeom>
            <a:avLst/>
            <a:gdLst/>
            <a:ahLst/>
            <a:cxnLst/>
            <a:rect r="r" b="b" t="t" l="l"/>
            <a:pathLst>
              <a:path h="226809" w="226809">
                <a:moveTo>
                  <a:pt x="0" y="0"/>
                </a:moveTo>
                <a:lnTo>
                  <a:pt x="226809" y="0"/>
                </a:lnTo>
                <a:lnTo>
                  <a:pt x="226809" y="226809"/>
                </a:lnTo>
                <a:lnTo>
                  <a:pt x="0" y="226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6248" t="0" r="-6253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120528" y="3950494"/>
            <a:ext cx="1859461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MARKET DEMAND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10198" y="4707731"/>
            <a:ext cx="4916691" cy="154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Increasing need for affordable mechanization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Rapid growth in agri-tech startups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228166" y="3941712"/>
            <a:ext cx="2188959" cy="532809"/>
            <a:chOff x="0" y="0"/>
            <a:chExt cx="2918612" cy="71041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918587" cy="710438"/>
            </a:xfrm>
            <a:custGeom>
              <a:avLst/>
              <a:gdLst/>
              <a:ahLst/>
              <a:cxnLst/>
              <a:rect r="r" b="b" t="t" l="l"/>
              <a:pathLst>
                <a:path h="710438" w="2918587">
                  <a:moveTo>
                    <a:pt x="0" y="272161"/>
                  </a:moveTo>
                  <a:cubicBezTo>
                    <a:pt x="0" y="121920"/>
                    <a:pt x="121920" y="0"/>
                    <a:pt x="272161" y="0"/>
                  </a:cubicBezTo>
                  <a:lnTo>
                    <a:pt x="2646426" y="0"/>
                  </a:lnTo>
                  <a:cubicBezTo>
                    <a:pt x="2796794" y="0"/>
                    <a:pt x="2918587" y="121920"/>
                    <a:pt x="2918587" y="272161"/>
                  </a:cubicBezTo>
                  <a:lnTo>
                    <a:pt x="2918587" y="438277"/>
                  </a:lnTo>
                  <a:cubicBezTo>
                    <a:pt x="2918587" y="588645"/>
                    <a:pt x="2796667" y="710438"/>
                    <a:pt x="2646426" y="710438"/>
                  </a:cubicBezTo>
                  <a:lnTo>
                    <a:pt x="272161" y="710438"/>
                  </a:lnTo>
                  <a:cubicBezTo>
                    <a:pt x="121920" y="710438"/>
                    <a:pt x="0" y="588518"/>
                    <a:pt x="0" y="438277"/>
                  </a:cubicBezTo>
                  <a:close/>
                </a:path>
              </a:pathLst>
            </a:custGeom>
            <a:solidFill>
              <a:srgbClr val="CFDBFC"/>
            </a:solidFill>
          </p:spPr>
        </p:sp>
      </p:grpSp>
      <p:sp>
        <p:nvSpPr>
          <p:cNvPr name="Freeform 19" id="19" descr="preencoded.png"/>
          <p:cNvSpPr/>
          <p:nvPr/>
        </p:nvSpPr>
        <p:spPr>
          <a:xfrm flipH="false" flipV="false" rot="0">
            <a:off x="12398273" y="4094712"/>
            <a:ext cx="226809" cy="226809"/>
          </a:xfrm>
          <a:custGeom>
            <a:avLst/>
            <a:gdLst/>
            <a:ahLst/>
            <a:cxnLst/>
            <a:rect r="r" b="b" t="t" l="l"/>
            <a:pathLst>
              <a:path h="226809" w="226809">
                <a:moveTo>
                  <a:pt x="0" y="0"/>
                </a:moveTo>
                <a:lnTo>
                  <a:pt x="226810" y="0"/>
                </a:lnTo>
                <a:lnTo>
                  <a:pt x="226810" y="226809"/>
                </a:lnTo>
                <a:lnTo>
                  <a:pt x="0" y="226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2082" r="0" b="-2087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738497" y="3950494"/>
            <a:ext cx="1508522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COMPETITION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228166" y="4707731"/>
            <a:ext cx="5086502" cy="1092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Fragmented local rentals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dominant digital platform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92238" y="6770637"/>
            <a:ext cx="16303523" cy="1204760"/>
            <a:chOff x="0" y="0"/>
            <a:chExt cx="21738031" cy="160634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738082" cy="1606296"/>
            </a:xfrm>
            <a:custGeom>
              <a:avLst/>
              <a:gdLst/>
              <a:ahLst/>
              <a:cxnLst/>
              <a:rect r="r" b="b" t="t" l="l"/>
              <a:pathLst>
                <a:path h="1606296" w="21738082">
                  <a:moveTo>
                    <a:pt x="0" y="340233"/>
                  </a:moveTo>
                  <a:cubicBezTo>
                    <a:pt x="0" y="152273"/>
                    <a:pt x="152273" y="0"/>
                    <a:pt x="340233" y="0"/>
                  </a:cubicBezTo>
                  <a:lnTo>
                    <a:pt x="21397849" y="0"/>
                  </a:lnTo>
                  <a:cubicBezTo>
                    <a:pt x="21585810" y="0"/>
                    <a:pt x="21738082" y="152273"/>
                    <a:pt x="21738082" y="340233"/>
                  </a:cubicBezTo>
                  <a:lnTo>
                    <a:pt x="21738082" y="1266063"/>
                  </a:lnTo>
                  <a:cubicBezTo>
                    <a:pt x="21738082" y="1454023"/>
                    <a:pt x="21585810" y="1606296"/>
                    <a:pt x="21397849" y="1606296"/>
                  </a:cubicBezTo>
                  <a:lnTo>
                    <a:pt x="340233" y="1606296"/>
                  </a:lnTo>
                  <a:cubicBezTo>
                    <a:pt x="152273" y="1606296"/>
                    <a:pt x="0" y="1454023"/>
                    <a:pt x="0" y="1266063"/>
                  </a:cubicBezTo>
                  <a:close/>
                </a:path>
              </a:pathLst>
            </a:custGeom>
            <a:solidFill>
              <a:srgbClr val="B7C9F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75759" y="7210273"/>
            <a:ext cx="354359" cy="283521"/>
            <a:chOff x="0" y="0"/>
            <a:chExt cx="472478" cy="378028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472440" cy="378079"/>
            </a:xfrm>
            <a:custGeom>
              <a:avLst/>
              <a:gdLst/>
              <a:ahLst/>
              <a:cxnLst/>
              <a:rect r="r" b="b" t="t" l="l"/>
              <a:pathLst>
                <a:path h="378079" w="472440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671" r="-8" b="-655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913630" y="7039270"/>
            <a:ext cx="15098611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Huge gap in organized marketplace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646464"/>
            <a:ext cx="708823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3F6FF3"/>
                </a:solidFill>
                <a:latin typeface="Arimo"/>
                <a:ea typeface="Arimo"/>
                <a:cs typeface="Arimo"/>
                <a:sym typeface="Arimo"/>
              </a:rPr>
              <a:t>Financial Viability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4260209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3F6FF3"/>
                </a:solidFill>
                <a:latin typeface="Arimo"/>
                <a:ea typeface="Arimo"/>
                <a:cs typeface="Arimo"/>
                <a:sym typeface="Arimo"/>
              </a:rPr>
              <a:t>Revenue Model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87476" y="5055394"/>
            <a:ext cx="647405" cy="647405"/>
            <a:chOff x="0" y="0"/>
            <a:chExt cx="863206" cy="8632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340233"/>
                  </a:moveTo>
                  <a:cubicBezTo>
                    <a:pt x="0" y="152273"/>
                    <a:pt x="152273" y="0"/>
                    <a:pt x="340233" y="0"/>
                  </a:cubicBezTo>
                  <a:lnTo>
                    <a:pt x="510286" y="0"/>
                  </a:lnTo>
                  <a:cubicBezTo>
                    <a:pt x="698246" y="0"/>
                    <a:pt x="850519" y="152273"/>
                    <a:pt x="850519" y="340233"/>
                  </a:cubicBezTo>
                  <a:lnTo>
                    <a:pt x="850519" y="510286"/>
                  </a:lnTo>
                  <a:cubicBezTo>
                    <a:pt x="850519" y="698246"/>
                    <a:pt x="698246" y="850519"/>
                    <a:pt x="510286" y="850519"/>
                  </a:cubicBezTo>
                  <a:lnTo>
                    <a:pt x="340233" y="850519"/>
                  </a:lnTo>
                  <a:cubicBezTo>
                    <a:pt x="152273" y="850519"/>
                    <a:pt x="0" y="698119"/>
                    <a:pt x="0" y="510286"/>
                  </a:cubicBezTo>
                  <a:close/>
                </a:path>
              </a:pathLst>
            </a:custGeom>
            <a:solidFill>
              <a:srgbClr val="CFDBFC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346583"/>
                  </a:moveTo>
                  <a:cubicBezTo>
                    <a:pt x="0" y="155194"/>
                    <a:pt x="155194" y="0"/>
                    <a:pt x="346583" y="0"/>
                  </a:cubicBezTo>
                  <a:lnTo>
                    <a:pt x="516636" y="0"/>
                  </a:lnTo>
                  <a:lnTo>
                    <a:pt x="516636" y="6350"/>
                  </a:lnTo>
                  <a:lnTo>
                    <a:pt x="516636" y="0"/>
                  </a:lnTo>
                  <a:lnTo>
                    <a:pt x="516636" y="6350"/>
                  </a:lnTo>
                  <a:lnTo>
                    <a:pt x="516636" y="0"/>
                  </a:lnTo>
                  <a:cubicBezTo>
                    <a:pt x="708025" y="0"/>
                    <a:pt x="863219" y="155194"/>
                    <a:pt x="863219" y="346583"/>
                  </a:cubicBezTo>
                  <a:lnTo>
                    <a:pt x="856869" y="346583"/>
                  </a:lnTo>
                  <a:lnTo>
                    <a:pt x="863219" y="346583"/>
                  </a:lnTo>
                  <a:lnTo>
                    <a:pt x="863219" y="516636"/>
                  </a:lnTo>
                  <a:lnTo>
                    <a:pt x="856869" y="516636"/>
                  </a:lnTo>
                  <a:lnTo>
                    <a:pt x="863219" y="516636"/>
                  </a:lnTo>
                  <a:cubicBezTo>
                    <a:pt x="863219" y="708025"/>
                    <a:pt x="708025" y="863219"/>
                    <a:pt x="516636" y="863219"/>
                  </a:cubicBezTo>
                  <a:lnTo>
                    <a:pt x="516636" y="856869"/>
                  </a:lnTo>
                  <a:lnTo>
                    <a:pt x="516636" y="863219"/>
                  </a:lnTo>
                  <a:lnTo>
                    <a:pt x="346583" y="863219"/>
                  </a:lnTo>
                  <a:lnTo>
                    <a:pt x="346583" y="856869"/>
                  </a:lnTo>
                  <a:lnTo>
                    <a:pt x="346583" y="863219"/>
                  </a:lnTo>
                  <a:cubicBezTo>
                    <a:pt x="155194" y="863219"/>
                    <a:pt x="0" y="708025"/>
                    <a:pt x="0" y="516636"/>
                  </a:cubicBezTo>
                  <a:lnTo>
                    <a:pt x="0" y="346583"/>
                  </a:lnTo>
                  <a:lnTo>
                    <a:pt x="6350" y="346583"/>
                  </a:lnTo>
                  <a:lnTo>
                    <a:pt x="0" y="346583"/>
                  </a:lnTo>
                  <a:moveTo>
                    <a:pt x="12700" y="346583"/>
                  </a:moveTo>
                  <a:lnTo>
                    <a:pt x="12700" y="516636"/>
                  </a:lnTo>
                  <a:lnTo>
                    <a:pt x="6350" y="516636"/>
                  </a:lnTo>
                  <a:lnTo>
                    <a:pt x="12700" y="516636"/>
                  </a:lnTo>
                  <a:cubicBezTo>
                    <a:pt x="12700" y="701040"/>
                    <a:pt x="162179" y="850519"/>
                    <a:pt x="346583" y="850519"/>
                  </a:cubicBezTo>
                  <a:lnTo>
                    <a:pt x="516636" y="850519"/>
                  </a:lnTo>
                  <a:cubicBezTo>
                    <a:pt x="701040" y="850519"/>
                    <a:pt x="850519" y="701040"/>
                    <a:pt x="850519" y="516636"/>
                  </a:cubicBezTo>
                  <a:lnTo>
                    <a:pt x="850519" y="346583"/>
                  </a:lnTo>
                  <a:cubicBezTo>
                    <a:pt x="850519" y="162179"/>
                    <a:pt x="701040" y="12700"/>
                    <a:pt x="516636" y="12700"/>
                  </a:cubicBezTo>
                  <a:lnTo>
                    <a:pt x="346583" y="12700"/>
                  </a:lnTo>
                  <a:lnTo>
                    <a:pt x="346583" y="6350"/>
                  </a:lnTo>
                  <a:lnTo>
                    <a:pt x="346583" y="12700"/>
                  </a:lnTo>
                  <a:cubicBezTo>
                    <a:pt x="162179" y="12700"/>
                    <a:pt x="12700" y="162179"/>
                    <a:pt x="12700" y="346583"/>
                  </a:cubicBezTo>
                  <a:close/>
                </a:path>
              </a:pathLst>
            </a:custGeom>
            <a:solidFill>
              <a:srgbClr val="B5C1E2"/>
            </a:solidFill>
          </p:spPr>
        </p:sp>
      </p:grpSp>
      <p:sp>
        <p:nvSpPr>
          <p:cNvPr name="Freeform 11" id="11" descr="preencoded.png"/>
          <p:cNvSpPr/>
          <p:nvPr/>
        </p:nvSpPr>
        <p:spPr>
          <a:xfrm flipH="false" flipV="false" rot="0">
            <a:off x="1098575" y="5166417"/>
            <a:ext cx="425206" cy="425206"/>
          </a:xfrm>
          <a:custGeom>
            <a:avLst/>
            <a:gdLst/>
            <a:ahLst/>
            <a:cxnLst/>
            <a:rect r="r" b="b" t="t" l="l"/>
            <a:pathLst>
              <a:path h="425206" w="425206">
                <a:moveTo>
                  <a:pt x="0" y="0"/>
                </a:moveTo>
                <a:lnTo>
                  <a:pt x="425206" y="0"/>
                </a:lnTo>
                <a:lnTo>
                  <a:pt x="425206" y="425206"/>
                </a:lnTo>
                <a:lnTo>
                  <a:pt x="0" y="425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333" r="0" b="-3333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913630" y="5066557"/>
            <a:ext cx="2804370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Commission per booking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067595" y="5055394"/>
            <a:ext cx="647405" cy="647405"/>
            <a:chOff x="0" y="0"/>
            <a:chExt cx="863206" cy="86320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340233"/>
                  </a:moveTo>
                  <a:cubicBezTo>
                    <a:pt x="0" y="152273"/>
                    <a:pt x="152273" y="0"/>
                    <a:pt x="340233" y="0"/>
                  </a:cubicBezTo>
                  <a:lnTo>
                    <a:pt x="510286" y="0"/>
                  </a:lnTo>
                  <a:cubicBezTo>
                    <a:pt x="698246" y="0"/>
                    <a:pt x="850519" y="152273"/>
                    <a:pt x="850519" y="340233"/>
                  </a:cubicBezTo>
                  <a:lnTo>
                    <a:pt x="850519" y="510286"/>
                  </a:lnTo>
                  <a:cubicBezTo>
                    <a:pt x="850519" y="698246"/>
                    <a:pt x="698246" y="850519"/>
                    <a:pt x="510286" y="850519"/>
                  </a:cubicBezTo>
                  <a:lnTo>
                    <a:pt x="340233" y="850519"/>
                  </a:lnTo>
                  <a:cubicBezTo>
                    <a:pt x="152273" y="850519"/>
                    <a:pt x="0" y="698119"/>
                    <a:pt x="0" y="510286"/>
                  </a:cubicBezTo>
                  <a:close/>
                </a:path>
              </a:pathLst>
            </a:custGeom>
            <a:solidFill>
              <a:srgbClr val="CFDBFC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346583"/>
                  </a:moveTo>
                  <a:cubicBezTo>
                    <a:pt x="0" y="155194"/>
                    <a:pt x="155194" y="0"/>
                    <a:pt x="346583" y="0"/>
                  </a:cubicBezTo>
                  <a:lnTo>
                    <a:pt x="516636" y="0"/>
                  </a:lnTo>
                  <a:lnTo>
                    <a:pt x="516636" y="6350"/>
                  </a:lnTo>
                  <a:lnTo>
                    <a:pt x="516636" y="0"/>
                  </a:lnTo>
                  <a:lnTo>
                    <a:pt x="516636" y="6350"/>
                  </a:lnTo>
                  <a:lnTo>
                    <a:pt x="516636" y="0"/>
                  </a:lnTo>
                  <a:cubicBezTo>
                    <a:pt x="708025" y="0"/>
                    <a:pt x="863219" y="155194"/>
                    <a:pt x="863219" y="346583"/>
                  </a:cubicBezTo>
                  <a:lnTo>
                    <a:pt x="856869" y="346583"/>
                  </a:lnTo>
                  <a:lnTo>
                    <a:pt x="863219" y="346583"/>
                  </a:lnTo>
                  <a:lnTo>
                    <a:pt x="863219" y="516636"/>
                  </a:lnTo>
                  <a:lnTo>
                    <a:pt x="856869" y="516636"/>
                  </a:lnTo>
                  <a:lnTo>
                    <a:pt x="863219" y="516636"/>
                  </a:lnTo>
                  <a:cubicBezTo>
                    <a:pt x="863219" y="708025"/>
                    <a:pt x="708025" y="863219"/>
                    <a:pt x="516636" y="863219"/>
                  </a:cubicBezTo>
                  <a:lnTo>
                    <a:pt x="516636" y="856869"/>
                  </a:lnTo>
                  <a:lnTo>
                    <a:pt x="516636" y="863219"/>
                  </a:lnTo>
                  <a:lnTo>
                    <a:pt x="346583" y="863219"/>
                  </a:lnTo>
                  <a:lnTo>
                    <a:pt x="346583" y="856869"/>
                  </a:lnTo>
                  <a:lnTo>
                    <a:pt x="346583" y="863219"/>
                  </a:lnTo>
                  <a:cubicBezTo>
                    <a:pt x="155194" y="863219"/>
                    <a:pt x="0" y="708025"/>
                    <a:pt x="0" y="516636"/>
                  </a:cubicBezTo>
                  <a:lnTo>
                    <a:pt x="0" y="346583"/>
                  </a:lnTo>
                  <a:lnTo>
                    <a:pt x="6350" y="346583"/>
                  </a:lnTo>
                  <a:lnTo>
                    <a:pt x="0" y="346583"/>
                  </a:lnTo>
                  <a:moveTo>
                    <a:pt x="12700" y="346583"/>
                  </a:moveTo>
                  <a:lnTo>
                    <a:pt x="12700" y="516636"/>
                  </a:lnTo>
                  <a:lnTo>
                    <a:pt x="6350" y="516636"/>
                  </a:lnTo>
                  <a:lnTo>
                    <a:pt x="12700" y="516636"/>
                  </a:lnTo>
                  <a:cubicBezTo>
                    <a:pt x="12700" y="701040"/>
                    <a:pt x="162179" y="850519"/>
                    <a:pt x="346583" y="850519"/>
                  </a:cubicBezTo>
                  <a:lnTo>
                    <a:pt x="516636" y="850519"/>
                  </a:lnTo>
                  <a:cubicBezTo>
                    <a:pt x="701040" y="850519"/>
                    <a:pt x="850519" y="701040"/>
                    <a:pt x="850519" y="516636"/>
                  </a:cubicBezTo>
                  <a:lnTo>
                    <a:pt x="850519" y="346583"/>
                  </a:lnTo>
                  <a:cubicBezTo>
                    <a:pt x="850519" y="162179"/>
                    <a:pt x="701040" y="12700"/>
                    <a:pt x="516636" y="12700"/>
                  </a:cubicBezTo>
                  <a:lnTo>
                    <a:pt x="346583" y="12700"/>
                  </a:lnTo>
                  <a:lnTo>
                    <a:pt x="346583" y="6350"/>
                  </a:lnTo>
                  <a:lnTo>
                    <a:pt x="346583" y="12700"/>
                  </a:lnTo>
                  <a:cubicBezTo>
                    <a:pt x="162179" y="12700"/>
                    <a:pt x="12700" y="162179"/>
                    <a:pt x="12700" y="346583"/>
                  </a:cubicBezTo>
                  <a:close/>
                </a:path>
              </a:pathLst>
            </a:custGeom>
            <a:solidFill>
              <a:srgbClr val="B5C1E2"/>
            </a:solidFill>
          </p:spPr>
        </p:sp>
      </p:grpSp>
      <p:sp>
        <p:nvSpPr>
          <p:cNvPr name="Freeform 16" id="16" descr="preencoded.png"/>
          <p:cNvSpPr/>
          <p:nvPr/>
        </p:nvSpPr>
        <p:spPr>
          <a:xfrm flipH="false" flipV="false" rot="0">
            <a:off x="5178695" y="5166417"/>
            <a:ext cx="425206" cy="425206"/>
          </a:xfrm>
          <a:custGeom>
            <a:avLst/>
            <a:gdLst/>
            <a:ahLst/>
            <a:cxnLst/>
            <a:rect r="r" b="b" t="t" l="l"/>
            <a:pathLst>
              <a:path h="425206" w="425206">
                <a:moveTo>
                  <a:pt x="0" y="0"/>
                </a:moveTo>
                <a:lnTo>
                  <a:pt x="425205" y="0"/>
                </a:lnTo>
                <a:lnTo>
                  <a:pt x="425205" y="425206"/>
                </a:lnTo>
                <a:lnTo>
                  <a:pt x="0" y="4252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2222" r="0" b="-2222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993759" y="5066557"/>
            <a:ext cx="2804370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Subscription for owners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87476" y="6621809"/>
            <a:ext cx="647405" cy="647405"/>
            <a:chOff x="0" y="0"/>
            <a:chExt cx="863206" cy="86320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340233"/>
                  </a:moveTo>
                  <a:cubicBezTo>
                    <a:pt x="0" y="152273"/>
                    <a:pt x="152273" y="0"/>
                    <a:pt x="340233" y="0"/>
                  </a:cubicBezTo>
                  <a:lnTo>
                    <a:pt x="510286" y="0"/>
                  </a:lnTo>
                  <a:cubicBezTo>
                    <a:pt x="698246" y="0"/>
                    <a:pt x="850519" y="152273"/>
                    <a:pt x="850519" y="340233"/>
                  </a:cubicBezTo>
                  <a:lnTo>
                    <a:pt x="850519" y="510286"/>
                  </a:lnTo>
                  <a:cubicBezTo>
                    <a:pt x="850519" y="698246"/>
                    <a:pt x="698246" y="850519"/>
                    <a:pt x="510286" y="850519"/>
                  </a:cubicBezTo>
                  <a:lnTo>
                    <a:pt x="340233" y="850519"/>
                  </a:lnTo>
                  <a:cubicBezTo>
                    <a:pt x="152273" y="850519"/>
                    <a:pt x="0" y="698119"/>
                    <a:pt x="0" y="510286"/>
                  </a:cubicBezTo>
                  <a:close/>
                </a:path>
              </a:pathLst>
            </a:custGeom>
            <a:solidFill>
              <a:srgbClr val="CFDBFC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346583"/>
                  </a:moveTo>
                  <a:cubicBezTo>
                    <a:pt x="0" y="155194"/>
                    <a:pt x="155194" y="0"/>
                    <a:pt x="346583" y="0"/>
                  </a:cubicBezTo>
                  <a:lnTo>
                    <a:pt x="516636" y="0"/>
                  </a:lnTo>
                  <a:lnTo>
                    <a:pt x="516636" y="6350"/>
                  </a:lnTo>
                  <a:lnTo>
                    <a:pt x="516636" y="0"/>
                  </a:lnTo>
                  <a:lnTo>
                    <a:pt x="516636" y="6350"/>
                  </a:lnTo>
                  <a:lnTo>
                    <a:pt x="516636" y="0"/>
                  </a:lnTo>
                  <a:cubicBezTo>
                    <a:pt x="708025" y="0"/>
                    <a:pt x="863219" y="155194"/>
                    <a:pt x="863219" y="346583"/>
                  </a:cubicBezTo>
                  <a:lnTo>
                    <a:pt x="856869" y="346583"/>
                  </a:lnTo>
                  <a:lnTo>
                    <a:pt x="863219" y="346583"/>
                  </a:lnTo>
                  <a:lnTo>
                    <a:pt x="863219" y="516636"/>
                  </a:lnTo>
                  <a:lnTo>
                    <a:pt x="856869" y="516636"/>
                  </a:lnTo>
                  <a:lnTo>
                    <a:pt x="863219" y="516636"/>
                  </a:lnTo>
                  <a:cubicBezTo>
                    <a:pt x="863219" y="708025"/>
                    <a:pt x="708025" y="863219"/>
                    <a:pt x="516636" y="863219"/>
                  </a:cubicBezTo>
                  <a:lnTo>
                    <a:pt x="516636" y="856869"/>
                  </a:lnTo>
                  <a:lnTo>
                    <a:pt x="516636" y="863219"/>
                  </a:lnTo>
                  <a:lnTo>
                    <a:pt x="346583" y="863219"/>
                  </a:lnTo>
                  <a:lnTo>
                    <a:pt x="346583" y="856869"/>
                  </a:lnTo>
                  <a:lnTo>
                    <a:pt x="346583" y="863219"/>
                  </a:lnTo>
                  <a:cubicBezTo>
                    <a:pt x="155194" y="863219"/>
                    <a:pt x="0" y="708025"/>
                    <a:pt x="0" y="516636"/>
                  </a:cubicBezTo>
                  <a:lnTo>
                    <a:pt x="0" y="346583"/>
                  </a:lnTo>
                  <a:lnTo>
                    <a:pt x="6350" y="346583"/>
                  </a:lnTo>
                  <a:lnTo>
                    <a:pt x="0" y="346583"/>
                  </a:lnTo>
                  <a:moveTo>
                    <a:pt x="12700" y="346583"/>
                  </a:moveTo>
                  <a:lnTo>
                    <a:pt x="12700" y="516636"/>
                  </a:lnTo>
                  <a:lnTo>
                    <a:pt x="6350" y="516636"/>
                  </a:lnTo>
                  <a:lnTo>
                    <a:pt x="12700" y="516636"/>
                  </a:lnTo>
                  <a:cubicBezTo>
                    <a:pt x="12700" y="701040"/>
                    <a:pt x="162179" y="850519"/>
                    <a:pt x="346583" y="850519"/>
                  </a:cubicBezTo>
                  <a:lnTo>
                    <a:pt x="516636" y="850519"/>
                  </a:lnTo>
                  <a:cubicBezTo>
                    <a:pt x="701040" y="850519"/>
                    <a:pt x="850519" y="701040"/>
                    <a:pt x="850519" y="516636"/>
                  </a:cubicBezTo>
                  <a:lnTo>
                    <a:pt x="850519" y="346583"/>
                  </a:lnTo>
                  <a:cubicBezTo>
                    <a:pt x="850519" y="162179"/>
                    <a:pt x="701040" y="12700"/>
                    <a:pt x="516636" y="12700"/>
                  </a:cubicBezTo>
                  <a:lnTo>
                    <a:pt x="346583" y="12700"/>
                  </a:lnTo>
                  <a:lnTo>
                    <a:pt x="346583" y="6350"/>
                  </a:lnTo>
                  <a:lnTo>
                    <a:pt x="346583" y="12700"/>
                  </a:lnTo>
                  <a:cubicBezTo>
                    <a:pt x="162179" y="12700"/>
                    <a:pt x="12700" y="162179"/>
                    <a:pt x="12700" y="346583"/>
                  </a:cubicBezTo>
                  <a:close/>
                </a:path>
              </a:pathLst>
            </a:custGeom>
            <a:solidFill>
              <a:srgbClr val="B5C1E2"/>
            </a:solidFill>
          </p:spPr>
        </p:sp>
      </p:grpSp>
      <p:sp>
        <p:nvSpPr>
          <p:cNvPr name="Freeform 21" id="21" descr="preencoded.png"/>
          <p:cNvSpPr/>
          <p:nvPr/>
        </p:nvSpPr>
        <p:spPr>
          <a:xfrm flipH="false" flipV="false" rot="0">
            <a:off x="1098575" y="6732832"/>
            <a:ext cx="425206" cy="425206"/>
          </a:xfrm>
          <a:custGeom>
            <a:avLst/>
            <a:gdLst/>
            <a:ahLst/>
            <a:cxnLst/>
            <a:rect r="r" b="b" t="t" l="l"/>
            <a:pathLst>
              <a:path h="425206" w="425206">
                <a:moveTo>
                  <a:pt x="0" y="0"/>
                </a:moveTo>
                <a:lnTo>
                  <a:pt x="425206" y="0"/>
                </a:lnTo>
                <a:lnTo>
                  <a:pt x="425206" y="425206"/>
                </a:lnTo>
                <a:lnTo>
                  <a:pt x="0" y="4252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913630" y="6632972"/>
            <a:ext cx="6884489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Premium features (analytics, priority listing)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499397" y="4260209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3F6FF3"/>
                </a:solidFill>
                <a:latin typeface="Arimo"/>
                <a:ea typeface="Arimo"/>
                <a:cs typeface="Arimo"/>
                <a:sym typeface="Arimo"/>
              </a:rPr>
              <a:t>Cost Factors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494634" y="5055394"/>
            <a:ext cx="647405" cy="647405"/>
            <a:chOff x="0" y="0"/>
            <a:chExt cx="863206" cy="86320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340233"/>
                  </a:moveTo>
                  <a:cubicBezTo>
                    <a:pt x="0" y="152273"/>
                    <a:pt x="152273" y="0"/>
                    <a:pt x="340233" y="0"/>
                  </a:cubicBezTo>
                  <a:lnTo>
                    <a:pt x="510286" y="0"/>
                  </a:lnTo>
                  <a:cubicBezTo>
                    <a:pt x="698246" y="0"/>
                    <a:pt x="850519" y="152273"/>
                    <a:pt x="850519" y="340233"/>
                  </a:cubicBezTo>
                  <a:lnTo>
                    <a:pt x="850519" y="510286"/>
                  </a:lnTo>
                  <a:cubicBezTo>
                    <a:pt x="850519" y="698246"/>
                    <a:pt x="698246" y="850519"/>
                    <a:pt x="510286" y="850519"/>
                  </a:cubicBezTo>
                  <a:lnTo>
                    <a:pt x="340233" y="850519"/>
                  </a:lnTo>
                  <a:cubicBezTo>
                    <a:pt x="152273" y="850519"/>
                    <a:pt x="0" y="698119"/>
                    <a:pt x="0" y="510286"/>
                  </a:cubicBezTo>
                  <a:close/>
                </a:path>
              </a:pathLst>
            </a:custGeom>
            <a:solidFill>
              <a:srgbClr val="CFDBFC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346583"/>
                  </a:moveTo>
                  <a:cubicBezTo>
                    <a:pt x="0" y="155194"/>
                    <a:pt x="155194" y="0"/>
                    <a:pt x="346583" y="0"/>
                  </a:cubicBezTo>
                  <a:lnTo>
                    <a:pt x="516636" y="0"/>
                  </a:lnTo>
                  <a:lnTo>
                    <a:pt x="516636" y="6350"/>
                  </a:lnTo>
                  <a:lnTo>
                    <a:pt x="516636" y="0"/>
                  </a:lnTo>
                  <a:lnTo>
                    <a:pt x="516636" y="6350"/>
                  </a:lnTo>
                  <a:lnTo>
                    <a:pt x="516636" y="0"/>
                  </a:lnTo>
                  <a:cubicBezTo>
                    <a:pt x="708025" y="0"/>
                    <a:pt x="863219" y="155194"/>
                    <a:pt x="863219" y="346583"/>
                  </a:cubicBezTo>
                  <a:lnTo>
                    <a:pt x="856869" y="346583"/>
                  </a:lnTo>
                  <a:lnTo>
                    <a:pt x="863219" y="346583"/>
                  </a:lnTo>
                  <a:lnTo>
                    <a:pt x="863219" y="516636"/>
                  </a:lnTo>
                  <a:lnTo>
                    <a:pt x="856869" y="516636"/>
                  </a:lnTo>
                  <a:lnTo>
                    <a:pt x="863219" y="516636"/>
                  </a:lnTo>
                  <a:cubicBezTo>
                    <a:pt x="863219" y="708025"/>
                    <a:pt x="708025" y="863219"/>
                    <a:pt x="516636" y="863219"/>
                  </a:cubicBezTo>
                  <a:lnTo>
                    <a:pt x="516636" y="856869"/>
                  </a:lnTo>
                  <a:lnTo>
                    <a:pt x="516636" y="863219"/>
                  </a:lnTo>
                  <a:lnTo>
                    <a:pt x="346583" y="863219"/>
                  </a:lnTo>
                  <a:lnTo>
                    <a:pt x="346583" y="856869"/>
                  </a:lnTo>
                  <a:lnTo>
                    <a:pt x="346583" y="863219"/>
                  </a:lnTo>
                  <a:cubicBezTo>
                    <a:pt x="155194" y="863219"/>
                    <a:pt x="0" y="708025"/>
                    <a:pt x="0" y="516636"/>
                  </a:cubicBezTo>
                  <a:lnTo>
                    <a:pt x="0" y="346583"/>
                  </a:lnTo>
                  <a:lnTo>
                    <a:pt x="6350" y="346583"/>
                  </a:lnTo>
                  <a:lnTo>
                    <a:pt x="0" y="346583"/>
                  </a:lnTo>
                  <a:moveTo>
                    <a:pt x="12700" y="346583"/>
                  </a:moveTo>
                  <a:lnTo>
                    <a:pt x="12700" y="516636"/>
                  </a:lnTo>
                  <a:lnTo>
                    <a:pt x="6350" y="516636"/>
                  </a:lnTo>
                  <a:lnTo>
                    <a:pt x="12700" y="516636"/>
                  </a:lnTo>
                  <a:cubicBezTo>
                    <a:pt x="12700" y="701040"/>
                    <a:pt x="162179" y="850519"/>
                    <a:pt x="346583" y="850519"/>
                  </a:cubicBezTo>
                  <a:lnTo>
                    <a:pt x="516636" y="850519"/>
                  </a:lnTo>
                  <a:cubicBezTo>
                    <a:pt x="701040" y="850519"/>
                    <a:pt x="850519" y="701040"/>
                    <a:pt x="850519" y="516636"/>
                  </a:cubicBezTo>
                  <a:lnTo>
                    <a:pt x="850519" y="346583"/>
                  </a:lnTo>
                  <a:cubicBezTo>
                    <a:pt x="850519" y="162179"/>
                    <a:pt x="701040" y="12700"/>
                    <a:pt x="516636" y="12700"/>
                  </a:cubicBezTo>
                  <a:lnTo>
                    <a:pt x="346583" y="12700"/>
                  </a:lnTo>
                  <a:lnTo>
                    <a:pt x="346583" y="6350"/>
                  </a:lnTo>
                  <a:lnTo>
                    <a:pt x="346583" y="12700"/>
                  </a:lnTo>
                  <a:cubicBezTo>
                    <a:pt x="162179" y="12700"/>
                    <a:pt x="12700" y="162179"/>
                    <a:pt x="12700" y="346583"/>
                  </a:cubicBezTo>
                  <a:close/>
                </a:path>
              </a:pathLst>
            </a:custGeom>
            <a:solidFill>
              <a:srgbClr val="B5C1E2"/>
            </a:solidFill>
          </p:spPr>
        </p:sp>
      </p:grpSp>
      <p:sp>
        <p:nvSpPr>
          <p:cNvPr name="Freeform 27" id="27" descr="preencoded.png"/>
          <p:cNvSpPr/>
          <p:nvPr/>
        </p:nvSpPr>
        <p:spPr>
          <a:xfrm flipH="false" flipV="false" rot="0">
            <a:off x="9605743" y="5166417"/>
            <a:ext cx="425206" cy="425206"/>
          </a:xfrm>
          <a:custGeom>
            <a:avLst/>
            <a:gdLst/>
            <a:ahLst/>
            <a:cxnLst/>
            <a:rect r="r" b="b" t="t" l="l"/>
            <a:pathLst>
              <a:path h="425206" w="425206">
                <a:moveTo>
                  <a:pt x="0" y="0"/>
                </a:moveTo>
                <a:lnTo>
                  <a:pt x="425206" y="0"/>
                </a:lnTo>
                <a:lnTo>
                  <a:pt x="425206" y="425206"/>
                </a:lnTo>
                <a:lnTo>
                  <a:pt x="0" y="4252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35554" t="0" r="-35554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0420798" y="5066557"/>
            <a:ext cx="2804370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Platform development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3574763" y="5055394"/>
            <a:ext cx="647405" cy="647405"/>
            <a:chOff x="0" y="0"/>
            <a:chExt cx="863206" cy="86320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340233"/>
                  </a:moveTo>
                  <a:cubicBezTo>
                    <a:pt x="0" y="152273"/>
                    <a:pt x="152273" y="0"/>
                    <a:pt x="340233" y="0"/>
                  </a:cubicBezTo>
                  <a:lnTo>
                    <a:pt x="510286" y="0"/>
                  </a:lnTo>
                  <a:cubicBezTo>
                    <a:pt x="698246" y="0"/>
                    <a:pt x="850519" y="152273"/>
                    <a:pt x="850519" y="340233"/>
                  </a:cubicBezTo>
                  <a:lnTo>
                    <a:pt x="850519" y="510286"/>
                  </a:lnTo>
                  <a:cubicBezTo>
                    <a:pt x="850519" y="698246"/>
                    <a:pt x="698246" y="850519"/>
                    <a:pt x="510286" y="850519"/>
                  </a:cubicBezTo>
                  <a:lnTo>
                    <a:pt x="340233" y="850519"/>
                  </a:lnTo>
                  <a:cubicBezTo>
                    <a:pt x="152273" y="850519"/>
                    <a:pt x="0" y="698119"/>
                    <a:pt x="0" y="510286"/>
                  </a:cubicBezTo>
                  <a:close/>
                </a:path>
              </a:pathLst>
            </a:custGeom>
            <a:solidFill>
              <a:srgbClr val="CFDBFC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346583"/>
                  </a:moveTo>
                  <a:cubicBezTo>
                    <a:pt x="0" y="155194"/>
                    <a:pt x="155194" y="0"/>
                    <a:pt x="346583" y="0"/>
                  </a:cubicBezTo>
                  <a:lnTo>
                    <a:pt x="516636" y="0"/>
                  </a:lnTo>
                  <a:lnTo>
                    <a:pt x="516636" y="6350"/>
                  </a:lnTo>
                  <a:lnTo>
                    <a:pt x="516636" y="0"/>
                  </a:lnTo>
                  <a:lnTo>
                    <a:pt x="516636" y="6350"/>
                  </a:lnTo>
                  <a:lnTo>
                    <a:pt x="516636" y="0"/>
                  </a:lnTo>
                  <a:cubicBezTo>
                    <a:pt x="708025" y="0"/>
                    <a:pt x="863219" y="155194"/>
                    <a:pt x="863219" y="346583"/>
                  </a:cubicBezTo>
                  <a:lnTo>
                    <a:pt x="856869" y="346583"/>
                  </a:lnTo>
                  <a:lnTo>
                    <a:pt x="863219" y="346583"/>
                  </a:lnTo>
                  <a:lnTo>
                    <a:pt x="863219" y="516636"/>
                  </a:lnTo>
                  <a:lnTo>
                    <a:pt x="856869" y="516636"/>
                  </a:lnTo>
                  <a:lnTo>
                    <a:pt x="863219" y="516636"/>
                  </a:lnTo>
                  <a:cubicBezTo>
                    <a:pt x="863219" y="708025"/>
                    <a:pt x="708025" y="863219"/>
                    <a:pt x="516636" y="863219"/>
                  </a:cubicBezTo>
                  <a:lnTo>
                    <a:pt x="516636" y="856869"/>
                  </a:lnTo>
                  <a:lnTo>
                    <a:pt x="516636" y="863219"/>
                  </a:lnTo>
                  <a:lnTo>
                    <a:pt x="346583" y="863219"/>
                  </a:lnTo>
                  <a:lnTo>
                    <a:pt x="346583" y="856869"/>
                  </a:lnTo>
                  <a:lnTo>
                    <a:pt x="346583" y="863219"/>
                  </a:lnTo>
                  <a:cubicBezTo>
                    <a:pt x="155194" y="863219"/>
                    <a:pt x="0" y="708025"/>
                    <a:pt x="0" y="516636"/>
                  </a:cubicBezTo>
                  <a:lnTo>
                    <a:pt x="0" y="346583"/>
                  </a:lnTo>
                  <a:lnTo>
                    <a:pt x="6350" y="346583"/>
                  </a:lnTo>
                  <a:lnTo>
                    <a:pt x="0" y="346583"/>
                  </a:lnTo>
                  <a:moveTo>
                    <a:pt x="12700" y="346583"/>
                  </a:moveTo>
                  <a:lnTo>
                    <a:pt x="12700" y="516636"/>
                  </a:lnTo>
                  <a:lnTo>
                    <a:pt x="6350" y="516636"/>
                  </a:lnTo>
                  <a:lnTo>
                    <a:pt x="12700" y="516636"/>
                  </a:lnTo>
                  <a:cubicBezTo>
                    <a:pt x="12700" y="701040"/>
                    <a:pt x="162179" y="850519"/>
                    <a:pt x="346583" y="850519"/>
                  </a:cubicBezTo>
                  <a:lnTo>
                    <a:pt x="516636" y="850519"/>
                  </a:lnTo>
                  <a:cubicBezTo>
                    <a:pt x="701040" y="850519"/>
                    <a:pt x="850519" y="701040"/>
                    <a:pt x="850519" y="516636"/>
                  </a:cubicBezTo>
                  <a:lnTo>
                    <a:pt x="850519" y="346583"/>
                  </a:lnTo>
                  <a:cubicBezTo>
                    <a:pt x="850519" y="162179"/>
                    <a:pt x="701040" y="12700"/>
                    <a:pt x="516636" y="12700"/>
                  </a:cubicBezTo>
                  <a:lnTo>
                    <a:pt x="346583" y="12700"/>
                  </a:lnTo>
                  <a:lnTo>
                    <a:pt x="346583" y="6350"/>
                  </a:lnTo>
                  <a:lnTo>
                    <a:pt x="346583" y="12700"/>
                  </a:lnTo>
                  <a:cubicBezTo>
                    <a:pt x="162179" y="12700"/>
                    <a:pt x="12700" y="162179"/>
                    <a:pt x="12700" y="346583"/>
                  </a:cubicBezTo>
                  <a:close/>
                </a:path>
              </a:pathLst>
            </a:custGeom>
            <a:solidFill>
              <a:srgbClr val="B5C1E2"/>
            </a:solidFill>
          </p:spPr>
        </p:sp>
      </p:grpSp>
      <p:sp>
        <p:nvSpPr>
          <p:cNvPr name="Freeform 32" id="32" descr="preencoded.png"/>
          <p:cNvSpPr/>
          <p:nvPr/>
        </p:nvSpPr>
        <p:spPr>
          <a:xfrm flipH="false" flipV="false" rot="0">
            <a:off x="13685863" y="5166417"/>
            <a:ext cx="425206" cy="425206"/>
          </a:xfrm>
          <a:custGeom>
            <a:avLst/>
            <a:gdLst/>
            <a:ahLst/>
            <a:cxnLst/>
            <a:rect r="r" b="b" t="t" l="l"/>
            <a:pathLst>
              <a:path h="425206" w="425206">
                <a:moveTo>
                  <a:pt x="0" y="0"/>
                </a:moveTo>
                <a:lnTo>
                  <a:pt x="425205" y="0"/>
                </a:lnTo>
                <a:lnTo>
                  <a:pt x="425205" y="425206"/>
                </a:lnTo>
                <a:lnTo>
                  <a:pt x="0" y="42520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5555" t="0" r="-5555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4500917" y="5066557"/>
            <a:ext cx="2804370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Marketing &amp; onboarding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494634" y="6621809"/>
            <a:ext cx="647405" cy="647405"/>
            <a:chOff x="0" y="0"/>
            <a:chExt cx="863206" cy="86320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340233"/>
                  </a:moveTo>
                  <a:cubicBezTo>
                    <a:pt x="0" y="152273"/>
                    <a:pt x="152273" y="0"/>
                    <a:pt x="340233" y="0"/>
                  </a:cubicBezTo>
                  <a:lnTo>
                    <a:pt x="510286" y="0"/>
                  </a:lnTo>
                  <a:cubicBezTo>
                    <a:pt x="698246" y="0"/>
                    <a:pt x="850519" y="152273"/>
                    <a:pt x="850519" y="340233"/>
                  </a:cubicBezTo>
                  <a:lnTo>
                    <a:pt x="850519" y="510286"/>
                  </a:lnTo>
                  <a:cubicBezTo>
                    <a:pt x="850519" y="698246"/>
                    <a:pt x="698246" y="850519"/>
                    <a:pt x="510286" y="850519"/>
                  </a:cubicBezTo>
                  <a:lnTo>
                    <a:pt x="340233" y="850519"/>
                  </a:lnTo>
                  <a:cubicBezTo>
                    <a:pt x="152273" y="850519"/>
                    <a:pt x="0" y="698119"/>
                    <a:pt x="0" y="510286"/>
                  </a:cubicBezTo>
                  <a:close/>
                </a:path>
              </a:pathLst>
            </a:custGeom>
            <a:solidFill>
              <a:srgbClr val="CFDBFC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346583"/>
                  </a:moveTo>
                  <a:cubicBezTo>
                    <a:pt x="0" y="155194"/>
                    <a:pt x="155194" y="0"/>
                    <a:pt x="346583" y="0"/>
                  </a:cubicBezTo>
                  <a:lnTo>
                    <a:pt x="516636" y="0"/>
                  </a:lnTo>
                  <a:lnTo>
                    <a:pt x="516636" y="6350"/>
                  </a:lnTo>
                  <a:lnTo>
                    <a:pt x="516636" y="0"/>
                  </a:lnTo>
                  <a:lnTo>
                    <a:pt x="516636" y="6350"/>
                  </a:lnTo>
                  <a:lnTo>
                    <a:pt x="516636" y="0"/>
                  </a:lnTo>
                  <a:cubicBezTo>
                    <a:pt x="708025" y="0"/>
                    <a:pt x="863219" y="155194"/>
                    <a:pt x="863219" y="346583"/>
                  </a:cubicBezTo>
                  <a:lnTo>
                    <a:pt x="856869" y="346583"/>
                  </a:lnTo>
                  <a:lnTo>
                    <a:pt x="863219" y="346583"/>
                  </a:lnTo>
                  <a:lnTo>
                    <a:pt x="863219" y="516636"/>
                  </a:lnTo>
                  <a:lnTo>
                    <a:pt x="856869" y="516636"/>
                  </a:lnTo>
                  <a:lnTo>
                    <a:pt x="863219" y="516636"/>
                  </a:lnTo>
                  <a:cubicBezTo>
                    <a:pt x="863219" y="708025"/>
                    <a:pt x="708025" y="863219"/>
                    <a:pt x="516636" y="863219"/>
                  </a:cubicBezTo>
                  <a:lnTo>
                    <a:pt x="516636" y="856869"/>
                  </a:lnTo>
                  <a:lnTo>
                    <a:pt x="516636" y="863219"/>
                  </a:lnTo>
                  <a:lnTo>
                    <a:pt x="346583" y="863219"/>
                  </a:lnTo>
                  <a:lnTo>
                    <a:pt x="346583" y="856869"/>
                  </a:lnTo>
                  <a:lnTo>
                    <a:pt x="346583" y="863219"/>
                  </a:lnTo>
                  <a:cubicBezTo>
                    <a:pt x="155194" y="863219"/>
                    <a:pt x="0" y="708025"/>
                    <a:pt x="0" y="516636"/>
                  </a:cubicBezTo>
                  <a:lnTo>
                    <a:pt x="0" y="346583"/>
                  </a:lnTo>
                  <a:lnTo>
                    <a:pt x="6350" y="346583"/>
                  </a:lnTo>
                  <a:lnTo>
                    <a:pt x="0" y="346583"/>
                  </a:lnTo>
                  <a:moveTo>
                    <a:pt x="12700" y="346583"/>
                  </a:moveTo>
                  <a:lnTo>
                    <a:pt x="12700" y="516636"/>
                  </a:lnTo>
                  <a:lnTo>
                    <a:pt x="6350" y="516636"/>
                  </a:lnTo>
                  <a:lnTo>
                    <a:pt x="12700" y="516636"/>
                  </a:lnTo>
                  <a:cubicBezTo>
                    <a:pt x="12700" y="701040"/>
                    <a:pt x="162179" y="850519"/>
                    <a:pt x="346583" y="850519"/>
                  </a:cubicBezTo>
                  <a:lnTo>
                    <a:pt x="516636" y="850519"/>
                  </a:lnTo>
                  <a:cubicBezTo>
                    <a:pt x="701040" y="850519"/>
                    <a:pt x="850519" y="701040"/>
                    <a:pt x="850519" y="516636"/>
                  </a:cubicBezTo>
                  <a:lnTo>
                    <a:pt x="850519" y="346583"/>
                  </a:lnTo>
                  <a:cubicBezTo>
                    <a:pt x="850519" y="162179"/>
                    <a:pt x="701040" y="12700"/>
                    <a:pt x="516636" y="12700"/>
                  </a:cubicBezTo>
                  <a:lnTo>
                    <a:pt x="346583" y="12700"/>
                  </a:lnTo>
                  <a:lnTo>
                    <a:pt x="346583" y="6350"/>
                  </a:lnTo>
                  <a:lnTo>
                    <a:pt x="346583" y="12700"/>
                  </a:lnTo>
                  <a:cubicBezTo>
                    <a:pt x="162179" y="12700"/>
                    <a:pt x="12700" y="162179"/>
                    <a:pt x="12700" y="346583"/>
                  </a:cubicBezTo>
                  <a:close/>
                </a:path>
              </a:pathLst>
            </a:custGeom>
            <a:solidFill>
              <a:srgbClr val="B5C1E2"/>
            </a:solidFill>
          </p:spPr>
        </p:sp>
      </p:grpSp>
      <p:sp>
        <p:nvSpPr>
          <p:cNvPr name="Freeform 37" id="37" descr="preencoded.png"/>
          <p:cNvSpPr/>
          <p:nvPr/>
        </p:nvSpPr>
        <p:spPr>
          <a:xfrm flipH="false" flipV="false" rot="0">
            <a:off x="9605743" y="6732832"/>
            <a:ext cx="425206" cy="425206"/>
          </a:xfrm>
          <a:custGeom>
            <a:avLst/>
            <a:gdLst/>
            <a:ahLst/>
            <a:cxnLst/>
            <a:rect r="r" b="b" t="t" l="l"/>
            <a:pathLst>
              <a:path h="425206" w="425206">
                <a:moveTo>
                  <a:pt x="0" y="0"/>
                </a:moveTo>
                <a:lnTo>
                  <a:pt x="425206" y="0"/>
                </a:lnTo>
                <a:lnTo>
                  <a:pt x="425206" y="425206"/>
                </a:lnTo>
                <a:lnTo>
                  <a:pt x="0" y="42520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3333" r="0" b="-3333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0420798" y="6632972"/>
            <a:ext cx="6884489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Maintenance support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215753"/>
            <a:ext cx="708823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3F6FF3"/>
                </a:solidFill>
                <a:latin typeface="Arimo"/>
                <a:ea typeface="Arimo"/>
                <a:cs typeface="Arimo"/>
                <a:sym typeface="Arimo"/>
              </a:rPr>
              <a:t>Future Scope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3725913"/>
            <a:ext cx="8151762" cy="1134066"/>
            <a:chOff x="0" y="0"/>
            <a:chExt cx="10869016" cy="1512087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0869041" cy="1512062"/>
            </a:xfrm>
            <a:custGeom>
              <a:avLst/>
              <a:gdLst/>
              <a:ahLst/>
              <a:cxnLst/>
              <a:rect r="r" b="b" t="t" l="l"/>
              <a:pathLst>
                <a:path h="1512062" w="10869041">
                  <a:moveTo>
                    <a:pt x="0" y="0"/>
                  </a:moveTo>
                  <a:lnTo>
                    <a:pt x="10869041" y="0"/>
                  </a:lnTo>
                  <a:lnTo>
                    <a:pt x="10869041" y="1512062"/>
                  </a:lnTo>
                  <a:lnTo>
                    <a:pt x="0" y="1512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6" t="0" r="-35" b="-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75759" y="5105400"/>
            <a:ext cx="4512021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AI-based demand prediction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144000" y="3725913"/>
            <a:ext cx="8151762" cy="1134066"/>
            <a:chOff x="0" y="0"/>
            <a:chExt cx="10869016" cy="1512087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0869041" cy="1512062"/>
            </a:xfrm>
            <a:custGeom>
              <a:avLst/>
              <a:gdLst/>
              <a:ahLst/>
              <a:cxnLst/>
              <a:rect r="r" b="b" t="t" l="l"/>
              <a:pathLst>
                <a:path h="1512062" w="10869041">
                  <a:moveTo>
                    <a:pt x="0" y="0"/>
                  </a:moveTo>
                  <a:lnTo>
                    <a:pt x="10869041" y="0"/>
                  </a:lnTo>
                  <a:lnTo>
                    <a:pt x="10869041" y="1512062"/>
                  </a:lnTo>
                  <a:lnTo>
                    <a:pt x="0" y="1512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6" t="0" r="-35" b="-1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427521" y="5105400"/>
            <a:ext cx="3710435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Predictive maintenance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92238" y="5869934"/>
            <a:ext cx="8151762" cy="1134066"/>
            <a:chOff x="0" y="0"/>
            <a:chExt cx="10869016" cy="1512087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10869041" cy="1512062"/>
            </a:xfrm>
            <a:custGeom>
              <a:avLst/>
              <a:gdLst/>
              <a:ahLst/>
              <a:cxnLst/>
              <a:rect r="r" b="b" t="t" l="l"/>
              <a:pathLst>
                <a:path h="1512062" w="10869041">
                  <a:moveTo>
                    <a:pt x="0" y="0"/>
                  </a:moveTo>
                  <a:lnTo>
                    <a:pt x="10869041" y="0"/>
                  </a:lnTo>
                  <a:lnTo>
                    <a:pt x="10869041" y="1512062"/>
                  </a:lnTo>
                  <a:lnTo>
                    <a:pt x="0" y="1512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6" t="0" r="-35" b="-1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275759" y="7249420"/>
            <a:ext cx="5128622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Loan/EMI integration for owners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144000" y="5869934"/>
            <a:ext cx="8151762" cy="1134066"/>
            <a:chOff x="0" y="0"/>
            <a:chExt cx="10869016" cy="1512087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10869041" cy="1512062"/>
            </a:xfrm>
            <a:custGeom>
              <a:avLst/>
              <a:gdLst/>
              <a:ahLst/>
              <a:cxnLst/>
              <a:rect r="r" b="b" t="t" l="l"/>
              <a:pathLst>
                <a:path h="1512062" w="10869041">
                  <a:moveTo>
                    <a:pt x="0" y="0"/>
                  </a:moveTo>
                  <a:lnTo>
                    <a:pt x="10869041" y="0"/>
                  </a:lnTo>
                  <a:lnTo>
                    <a:pt x="10869041" y="1512062"/>
                  </a:lnTo>
                  <a:lnTo>
                    <a:pt x="0" y="1512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36" t="0" r="-35" b="-1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427521" y="7249420"/>
            <a:ext cx="5848055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Expansion to logistics &amp; mining sector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293171"/>
            <a:ext cx="708823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3F6FF3"/>
                </a:solidFill>
                <a:latin typeface="Arimo"/>
                <a:ea typeface="Arimo"/>
                <a:cs typeface="Arimo"/>
                <a:sym typeface="Arimo"/>
              </a:rPr>
              <a:t>Conclusion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7476" y="2798559"/>
            <a:ext cx="8019459" cy="2172595"/>
            <a:chOff x="0" y="0"/>
            <a:chExt cx="10692613" cy="28967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10679938" cy="2884043"/>
            </a:xfrm>
            <a:custGeom>
              <a:avLst/>
              <a:gdLst/>
              <a:ahLst/>
              <a:cxnLst/>
              <a:rect r="r" b="b" t="t" l="l"/>
              <a:pathLst>
                <a:path h="2884043" w="10679938">
                  <a:moveTo>
                    <a:pt x="0" y="340233"/>
                  </a:moveTo>
                  <a:cubicBezTo>
                    <a:pt x="0" y="152273"/>
                    <a:pt x="152781" y="0"/>
                    <a:pt x="341376" y="0"/>
                  </a:cubicBezTo>
                  <a:lnTo>
                    <a:pt x="10338562" y="0"/>
                  </a:lnTo>
                  <a:cubicBezTo>
                    <a:pt x="10527030" y="0"/>
                    <a:pt x="10679938" y="152273"/>
                    <a:pt x="10679938" y="340233"/>
                  </a:cubicBezTo>
                  <a:lnTo>
                    <a:pt x="10679938" y="2543810"/>
                  </a:lnTo>
                  <a:cubicBezTo>
                    <a:pt x="10679938" y="2731770"/>
                    <a:pt x="10527157" y="2884043"/>
                    <a:pt x="10338562" y="2884043"/>
                  </a:cubicBezTo>
                  <a:lnTo>
                    <a:pt x="341376" y="2884043"/>
                  </a:lnTo>
                  <a:cubicBezTo>
                    <a:pt x="152781" y="2884043"/>
                    <a:pt x="0" y="2731770"/>
                    <a:pt x="0" y="2543810"/>
                  </a:cubicBezTo>
                  <a:close/>
                </a:path>
              </a:pathLst>
            </a:custGeom>
            <a:solidFill>
              <a:srgbClr val="CFDBFC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92638" cy="2896743"/>
            </a:xfrm>
            <a:custGeom>
              <a:avLst/>
              <a:gdLst/>
              <a:ahLst/>
              <a:cxnLst/>
              <a:rect r="r" b="b" t="t" l="l"/>
              <a:pathLst>
                <a:path h="2896743" w="10692638">
                  <a:moveTo>
                    <a:pt x="0" y="346583"/>
                  </a:moveTo>
                  <a:cubicBezTo>
                    <a:pt x="0" y="155194"/>
                    <a:pt x="155702" y="0"/>
                    <a:pt x="347726" y="0"/>
                  </a:cubicBezTo>
                  <a:lnTo>
                    <a:pt x="10344912" y="0"/>
                  </a:lnTo>
                  <a:lnTo>
                    <a:pt x="10344912" y="6350"/>
                  </a:lnTo>
                  <a:lnTo>
                    <a:pt x="10344912" y="0"/>
                  </a:lnTo>
                  <a:cubicBezTo>
                    <a:pt x="10536936" y="0"/>
                    <a:pt x="10692638" y="155194"/>
                    <a:pt x="10692638" y="346583"/>
                  </a:cubicBezTo>
                  <a:lnTo>
                    <a:pt x="10686288" y="346583"/>
                  </a:lnTo>
                  <a:lnTo>
                    <a:pt x="10692638" y="346583"/>
                  </a:lnTo>
                  <a:lnTo>
                    <a:pt x="10692638" y="2550160"/>
                  </a:lnTo>
                  <a:lnTo>
                    <a:pt x="10686288" y="2550160"/>
                  </a:lnTo>
                  <a:lnTo>
                    <a:pt x="10692638" y="2550160"/>
                  </a:lnTo>
                  <a:cubicBezTo>
                    <a:pt x="10692638" y="2741549"/>
                    <a:pt x="10536936" y="2896743"/>
                    <a:pt x="10344912" y="2896743"/>
                  </a:cubicBezTo>
                  <a:lnTo>
                    <a:pt x="10344912" y="2890393"/>
                  </a:lnTo>
                  <a:lnTo>
                    <a:pt x="10344912" y="2896743"/>
                  </a:lnTo>
                  <a:lnTo>
                    <a:pt x="347726" y="2896743"/>
                  </a:lnTo>
                  <a:lnTo>
                    <a:pt x="347726" y="2890393"/>
                  </a:lnTo>
                  <a:lnTo>
                    <a:pt x="347726" y="2896743"/>
                  </a:lnTo>
                  <a:cubicBezTo>
                    <a:pt x="155702" y="2896743"/>
                    <a:pt x="0" y="2741676"/>
                    <a:pt x="0" y="2550160"/>
                  </a:cubicBezTo>
                  <a:lnTo>
                    <a:pt x="0" y="346583"/>
                  </a:lnTo>
                  <a:lnTo>
                    <a:pt x="6350" y="346583"/>
                  </a:lnTo>
                  <a:lnTo>
                    <a:pt x="0" y="346583"/>
                  </a:lnTo>
                  <a:moveTo>
                    <a:pt x="12700" y="346583"/>
                  </a:moveTo>
                  <a:lnTo>
                    <a:pt x="12700" y="2550160"/>
                  </a:lnTo>
                  <a:lnTo>
                    <a:pt x="6350" y="2550160"/>
                  </a:lnTo>
                  <a:lnTo>
                    <a:pt x="12700" y="2550160"/>
                  </a:lnTo>
                  <a:cubicBezTo>
                    <a:pt x="12700" y="2734564"/>
                    <a:pt x="162687" y="2884043"/>
                    <a:pt x="347726" y="2884043"/>
                  </a:cubicBezTo>
                  <a:lnTo>
                    <a:pt x="10344912" y="2884043"/>
                  </a:lnTo>
                  <a:cubicBezTo>
                    <a:pt x="10529951" y="2884043"/>
                    <a:pt x="10679938" y="2734564"/>
                    <a:pt x="10679938" y="2550160"/>
                  </a:cubicBezTo>
                  <a:lnTo>
                    <a:pt x="10679938" y="346583"/>
                  </a:lnTo>
                  <a:cubicBezTo>
                    <a:pt x="10679938" y="162179"/>
                    <a:pt x="10529951" y="12700"/>
                    <a:pt x="10344912" y="12700"/>
                  </a:cubicBezTo>
                  <a:lnTo>
                    <a:pt x="347726" y="12700"/>
                  </a:lnTo>
                  <a:lnTo>
                    <a:pt x="347726" y="6350"/>
                  </a:lnTo>
                  <a:lnTo>
                    <a:pt x="347726" y="12700"/>
                  </a:lnTo>
                  <a:cubicBezTo>
                    <a:pt x="162687" y="12700"/>
                    <a:pt x="12700" y="162179"/>
                    <a:pt x="12700" y="346583"/>
                  </a:cubicBezTo>
                  <a:close/>
                </a:path>
              </a:pathLst>
            </a:custGeom>
            <a:solidFill>
              <a:srgbClr val="B5C1E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85284" y="3096368"/>
            <a:ext cx="850554" cy="850554"/>
            <a:chOff x="0" y="0"/>
            <a:chExt cx="1134072" cy="11340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A2B9F9"/>
            </a:solidFill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1519238" y="3330178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40244" r="0" b="-40241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85284" y="4192343"/>
            <a:ext cx="5308702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Solves a real, large-scale problem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80922" y="2798559"/>
            <a:ext cx="8019602" cy="2172595"/>
            <a:chOff x="0" y="0"/>
            <a:chExt cx="10692803" cy="289679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" y="6350"/>
              <a:ext cx="10680192" cy="2884043"/>
            </a:xfrm>
            <a:custGeom>
              <a:avLst/>
              <a:gdLst/>
              <a:ahLst/>
              <a:cxnLst/>
              <a:rect r="r" b="b" t="t" l="l"/>
              <a:pathLst>
                <a:path h="2884043" w="10680192">
                  <a:moveTo>
                    <a:pt x="0" y="340233"/>
                  </a:moveTo>
                  <a:cubicBezTo>
                    <a:pt x="0" y="152273"/>
                    <a:pt x="152781" y="0"/>
                    <a:pt x="341376" y="0"/>
                  </a:cubicBezTo>
                  <a:lnTo>
                    <a:pt x="10338816" y="0"/>
                  </a:lnTo>
                  <a:cubicBezTo>
                    <a:pt x="10527284" y="0"/>
                    <a:pt x="10680192" y="152273"/>
                    <a:pt x="10680192" y="340233"/>
                  </a:cubicBezTo>
                  <a:lnTo>
                    <a:pt x="10680192" y="2543810"/>
                  </a:lnTo>
                  <a:cubicBezTo>
                    <a:pt x="10680192" y="2731770"/>
                    <a:pt x="10527411" y="2884043"/>
                    <a:pt x="10338816" y="2884043"/>
                  </a:cubicBezTo>
                  <a:lnTo>
                    <a:pt x="341376" y="2884043"/>
                  </a:lnTo>
                  <a:cubicBezTo>
                    <a:pt x="152781" y="2884043"/>
                    <a:pt x="0" y="2731770"/>
                    <a:pt x="0" y="2543810"/>
                  </a:cubicBezTo>
                  <a:close/>
                </a:path>
              </a:pathLst>
            </a:custGeom>
            <a:solidFill>
              <a:srgbClr val="CFDBFC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692892" cy="2896743"/>
            </a:xfrm>
            <a:custGeom>
              <a:avLst/>
              <a:gdLst/>
              <a:ahLst/>
              <a:cxnLst/>
              <a:rect r="r" b="b" t="t" l="l"/>
              <a:pathLst>
                <a:path h="2896743" w="10692892">
                  <a:moveTo>
                    <a:pt x="0" y="346583"/>
                  </a:moveTo>
                  <a:cubicBezTo>
                    <a:pt x="0" y="155194"/>
                    <a:pt x="155702" y="0"/>
                    <a:pt x="347726" y="0"/>
                  </a:cubicBezTo>
                  <a:lnTo>
                    <a:pt x="10345166" y="0"/>
                  </a:lnTo>
                  <a:lnTo>
                    <a:pt x="10345166" y="6350"/>
                  </a:lnTo>
                  <a:lnTo>
                    <a:pt x="10345166" y="0"/>
                  </a:lnTo>
                  <a:cubicBezTo>
                    <a:pt x="10537190" y="0"/>
                    <a:pt x="10692892" y="155194"/>
                    <a:pt x="10692892" y="346583"/>
                  </a:cubicBezTo>
                  <a:lnTo>
                    <a:pt x="10686542" y="346583"/>
                  </a:lnTo>
                  <a:lnTo>
                    <a:pt x="10692892" y="346583"/>
                  </a:lnTo>
                  <a:lnTo>
                    <a:pt x="10692892" y="2550160"/>
                  </a:lnTo>
                  <a:lnTo>
                    <a:pt x="10686542" y="2550160"/>
                  </a:lnTo>
                  <a:lnTo>
                    <a:pt x="10692892" y="2550160"/>
                  </a:lnTo>
                  <a:cubicBezTo>
                    <a:pt x="10692892" y="2741549"/>
                    <a:pt x="10537190" y="2896743"/>
                    <a:pt x="10345166" y="2896743"/>
                  </a:cubicBezTo>
                  <a:lnTo>
                    <a:pt x="10345166" y="2890393"/>
                  </a:lnTo>
                  <a:lnTo>
                    <a:pt x="10345166" y="2896743"/>
                  </a:lnTo>
                  <a:lnTo>
                    <a:pt x="347726" y="2896743"/>
                  </a:lnTo>
                  <a:lnTo>
                    <a:pt x="347726" y="2890393"/>
                  </a:lnTo>
                  <a:lnTo>
                    <a:pt x="347726" y="2896743"/>
                  </a:lnTo>
                  <a:cubicBezTo>
                    <a:pt x="155702" y="2896743"/>
                    <a:pt x="0" y="2741676"/>
                    <a:pt x="0" y="2550160"/>
                  </a:cubicBezTo>
                  <a:lnTo>
                    <a:pt x="0" y="346583"/>
                  </a:lnTo>
                  <a:lnTo>
                    <a:pt x="6350" y="346583"/>
                  </a:lnTo>
                  <a:lnTo>
                    <a:pt x="0" y="346583"/>
                  </a:lnTo>
                  <a:moveTo>
                    <a:pt x="12700" y="346583"/>
                  </a:moveTo>
                  <a:lnTo>
                    <a:pt x="12700" y="2550160"/>
                  </a:lnTo>
                  <a:lnTo>
                    <a:pt x="6350" y="2550160"/>
                  </a:lnTo>
                  <a:lnTo>
                    <a:pt x="12700" y="2550160"/>
                  </a:lnTo>
                  <a:cubicBezTo>
                    <a:pt x="12700" y="2734564"/>
                    <a:pt x="162687" y="2884043"/>
                    <a:pt x="347726" y="2884043"/>
                  </a:cubicBezTo>
                  <a:lnTo>
                    <a:pt x="10345166" y="2884043"/>
                  </a:lnTo>
                  <a:cubicBezTo>
                    <a:pt x="10530205" y="2884043"/>
                    <a:pt x="10680192" y="2734564"/>
                    <a:pt x="10680192" y="2550160"/>
                  </a:cubicBezTo>
                  <a:lnTo>
                    <a:pt x="10680192" y="346583"/>
                  </a:lnTo>
                  <a:cubicBezTo>
                    <a:pt x="10680065" y="162179"/>
                    <a:pt x="10530205" y="12700"/>
                    <a:pt x="10345166" y="12700"/>
                  </a:cubicBezTo>
                  <a:lnTo>
                    <a:pt x="347726" y="12700"/>
                  </a:lnTo>
                  <a:lnTo>
                    <a:pt x="347726" y="6350"/>
                  </a:lnTo>
                  <a:lnTo>
                    <a:pt x="347726" y="12700"/>
                  </a:lnTo>
                  <a:cubicBezTo>
                    <a:pt x="162687" y="12700"/>
                    <a:pt x="12700" y="162179"/>
                    <a:pt x="12700" y="346583"/>
                  </a:cubicBezTo>
                  <a:close/>
                </a:path>
              </a:pathLst>
            </a:custGeom>
            <a:solidFill>
              <a:srgbClr val="B5C1E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578731" y="3096368"/>
            <a:ext cx="850554" cy="850554"/>
            <a:chOff x="0" y="0"/>
            <a:chExt cx="1134072" cy="11340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A2B9F9"/>
            </a:solidFill>
          </p:spPr>
        </p:sp>
      </p:grpSp>
      <p:sp>
        <p:nvSpPr>
          <p:cNvPr name="Freeform 19" id="19" descr="preencoded.png"/>
          <p:cNvSpPr/>
          <p:nvPr/>
        </p:nvSpPr>
        <p:spPr>
          <a:xfrm flipH="false" flipV="false" rot="0">
            <a:off x="9812684" y="3330178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578731" y="4192343"/>
            <a:ext cx="6450959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Bridges gap between supply and demand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87476" y="5245151"/>
            <a:ext cx="16313048" cy="2172595"/>
            <a:chOff x="0" y="0"/>
            <a:chExt cx="21750731" cy="289679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6350" y="6350"/>
              <a:ext cx="21737955" cy="2884043"/>
            </a:xfrm>
            <a:custGeom>
              <a:avLst/>
              <a:gdLst/>
              <a:ahLst/>
              <a:cxnLst/>
              <a:rect r="r" b="b" t="t" l="l"/>
              <a:pathLst>
                <a:path h="2884043" w="21737955">
                  <a:moveTo>
                    <a:pt x="0" y="340233"/>
                  </a:moveTo>
                  <a:cubicBezTo>
                    <a:pt x="0" y="152273"/>
                    <a:pt x="152908" y="0"/>
                    <a:pt x="341503" y="0"/>
                  </a:cubicBezTo>
                  <a:lnTo>
                    <a:pt x="21396452" y="0"/>
                  </a:lnTo>
                  <a:cubicBezTo>
                    <a:pt x="21585047" y="0"/>
                    <a:pt x="21737955" y="152273"/>
                    <a:pt x="21737955" y="340233"/>
                  </a:cubicBezTo>
                  <a:lnTo>
                    <a:pt x="21737955" y="2543810"/>
                  </a:lnTo>
                  <a:cubicBezTo>
                    <a:pt x="21737955" y="2731770"/>
                    <a:pt x="21585047" y="2884043"/>
                    <a:pt x="21396452" y="2884043"/>
                  </a:cubicBezTo>
                  <a:lnTo>
                    <a:pt x="341503" y="2884043"/>
                  </a:lnTo>
                  <a:cubicBezTo>
                    <a:pt x="152908" y="2884043"/>
                    <a:pt x="0" y="2731770"/>
                    <a:pt x="0" y="2543810"/>
                  </a:cubicBezTo>
                  <a:close/>
                </a:path>
              </a:pathLst>
            </a:custGeom>
            <a:solidFill>
              <a:srgbClr val="CFDBFC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750655" cy="2896743"/>
            </a:xfrm>
            <a:custGeom>
              <a:avLst/>
              <a:gdLst/>
              <a:ahLst/>
              <a:cxnLst/>
              <a:rect r="r" b="b" t="t" l="l"/>
              <a:pathLst>
                <a:path h="2896743" w="21750655">
                  <a:moveTo>
                    <a:pt x="0" y="346583"/>
                  </a:moveTo>
                  <a:cubicBezTo>
                    <a:pt x="0" y="155194"/>
                    <a:pt x="155829" y="0"/>
                    <a:pt x="347853" y="0"/>
                  </a:cubicBezTo>
                  <a:lnTo>
                    <a:pt x="21402802" y="0"/>
                  </a:lnTo>
                  <a:lnTo>
                    <a:pt x="21402802" y="6350"/>
                  </a:lnTo>
                  <a:lnTo>
                    <a:pt x="21402802" y="0"/>
                  </a:lnTo>
                  <a:cubicBezTo>
                    <a:pt x="21594953" y="0"/>
                    <a:pt x="21750655" y="155194"/>
                    <a:pt x="21750655" y="346583"/>
                  </a:cubicBezTo>
                  <a:lnTo>
                    <a:pt x="21744305" y="346583"/>
                  </a:lnTo>
                  <a:lnTo>
                    <a:pt x="21750655" y="346583"/>
                  </a:lnTo>
                  <a:lnTo>
                    <a:pt x="21750655" y="2550160"/>
                  </a:lnTo>
                  <a:lnTo>
                    <a:pt x="21744305" y="2550160"/>
                  </a:lnTo>
                  <a:lnTo>
                    <a:pt x="21750655" y="2550160"/>
                  </a:lnTo>
                  <a:cubicBezTo>
                    <a:pt x="21750655" y="2741549"/>
                    <a:pt x="21594826" y="2896743"/>
                    <a:pt x="21402802" y="2896743"/>
                  </a:cubicBezTo>
                  <a:lnTo>
                    <a:pt x="21402802" y="2890393"/>
                  </a:lnTo>
                  <a:lnTo>
                    <a:pt x="21402802" y="2896743"/>
                  </a:lnTo>
                  <a:lnTo>
                    <a:pt x="347853" y="2896743"/>
                  </a:lnTo>
                  <a:lnTo>
                    <a:pt x="347853" y="2890393"/>
                  </a:lnTo>
                  <a:lnTo>
                    <a:pt x="347853" y="2896743"/>
                  </a:lnTo>
                  <a:cubicBezTo>
                    <a:pt x="155829" y="2896743"/>
                    <a:pt x="0" y="2741676"/>
                    <a:pt x="0" y="2550160"/>
                  </a:cubicBezTo>
                  <a:lnTo>
                    <a:pt x="0" y="346583"/>
                  </a:lnTo>
                  <a:lnTo>
                    <a:pt x="6350" y="346583"/>
                  </a:lnTo>
                  <a:lnTo>
                    <a:pt x="0" y="346583"/>
                  </a:lnTo>
                  <a:moveTo>
                    <a:pt x="12700" y="346583"/>
                  </a:moveTo>
                  <a:lnTo>
                    <a:pt x="12700" y="2550160"/>
                  </a:lnTo>
                  <a:lnTo>
                    <a:pt x="6350" y="2550160"/>
                  </a:lnTo>
                  <a:lnTo>
                    <a:pt x="12700" y="2550160"/>
                  </a:lnTo>
                  <a:cubicBezTo>
                    <a:pt x="12700" y="2734564"/>
                    <a:pt x="162687" y="2884043"/>
                    <a:pt x="347853" y="2884043"/>
                  </a:cubicBezTo>
                  <a:lnTo>
                    <a:pt x="21402802" y="2884043"/>
                  </a:lnTo>
                  <a:cubicBezTo>
                    <a:pt x="21587968" y="2884043"/>
                    <a:pt x="21737955" y="2734564"/>
                    <a:pt x="21737955" y="2550160"/>
                  </a:cubicBezTo>
                  <a:lnTo>
                    <a:pt x="21737955" y="346583"/>
                  </a:lnTo>
                  <a:cubicBezTo>
                    <a:pt x="21737955" y="162179"/>
                    <a:pt x="21587968" y="12700"/>
                    <a:pt x="21402802" y="12700"/>
                  </a:cubicBezTo>
                  <a:lnTo>
                    <a:pt x="347853" y="12700"/>
                  </a:lnTo>
                  <a:lnTo>
                    <a:pt x="347853" y="6350"/>
                  </a:lnTo>
                  <a:lnTo>
                    <a:pt x="347853" y="12700"/>
                  </a:lnTo>
                  <a:cubicBezTo>
                    <a:pt x="162687" y="12700"/>
                    <a:pt x="12700" y="162179"/>
                    <a:pt x="12700" y="346583"/>
                  </a:cubicBezTo>
                  <a:close/>
                </a:path>
              </a:pathLst>
            </a:custGeom>
            <a:solidFill>
              <a:srgbClr val="B5C1E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85284" y="5542959"/>
            <a:ext cx="850554" cy="850554"/>
            <a:chOff x="0" y="0"/>
            <a:chExt cx="1134072" cy="113407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A2B9F9"/>
            </a:solidFill>
          </p:spPr>
        </p:sp>
      </p:grpSp>
      <p:sp>
        <p:nvSpPr>
          <p:cNvPr name="Freeform 26" id="26" descr="preencoded.png"/>
          <p:cNvSpPr/>
          <p:nvPr/>
        </p:nvSpPr>
        <p:spPr>
          <a:xfrm flipH="false" flipV="false" rot="0">
            <a:off x="1519238" y="5776760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285284" y="6638925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Scalable across India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17434" y="7946079"/>
            <a:ext cx="15878327" cy="671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 i="true">
                <a:solidFill>
                  <a:srgbClr val="666666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"Empowering farmers through accessible technology"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92238" y="7731919"/>
            <a:ext cx="38100" cy="1204760"/>
            <a:chOff x="0" y="0"/>
            <a:chExt cx="50800" cy="160634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" cy="1606296"/>
            </a:xfrm>
            <a:custGeom>
              <a:avLst/>
              <a:gdLst/>
              <a:ahLst/>
              <a:cxnLst/>
              <a:rect r="r" b="b" t="t" l="l"/>
              <a:pathLst>
                <a:path h="1606296" w="50800">
                  <a:moveTo>
                    <a:pt x="0" y="0"/>
                  </a:moveTo>
                  <a:lnTo>
                    <a:pt x="50800" y="0"/>
                  </a:lnTo>
                  <a:lnTo>
                    <a:pt x="50800" y="1606296"/>
                  </a:lnTo>
                  <a:lnTo>
                    <a:pt x="0" y="1606296"/>
                  </a:lnTo>
                  <a:close/>
                </a:path>
              </a:pathLst>
            </a:custGeom>
            <a:solidFill>
              <a:srgbClr val="A2B9F9"/>
            </a:solid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3355181"/>
            <a:ext cx="708823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3F6FF3"/>
                </a:solidFill>
                <a:latin typeface="Arimo"/>
                <a:ea typeface="Arimo"/>
                <a:cs typeface="Arimo"/>
                <a:sym typeface="Arimo"/>
              </a:rPr>
              <a:t>Call to Action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4373613"/>
            <a:ext cx="4252912" cy="56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>
                <a:solidFill>
                  <a:srgbClr val="3F6FF3"/>
                </a:solidFill>
                <a:latin typeface="Arimo"/>
                <a:ea typeface="Arimo"/>
                <a:cs typeface="Arimo"/>
                <a:sym typeface="Arimo"/>
              </a:rPr>
              <a:t>We need: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992238" y="5368528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92238" y="6393504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Technical mentorship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6544866" y="5368528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5999" r="0" b="-600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544866" y="6393504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Initial funding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12097493" y="5368528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097493" y="6393504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Field partnerships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4147242"/>
            <a:ext cx="708823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3F6FF3"/>
                </a:solidFill>
                <a:latin typeface="Arimo"/>
                <a:ea typeface="Arimo"/>
                <a:cs typeface="Arimo"/>
                <a:sym typeface="Arimo"/>
              </a:rPr>
              <a:t>Thank You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5410791"/>
            <a:ext cx="16303523" cy="522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 b="true">
                <a:solidFill>
                  <a:srgbClr val="66666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Driving the future of agriculture and infrastructure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DAHFWZXyuAo</dc:identifier>
  <dcterms:modified xsi:type="dcterms:W3CDTF">2011-08-01T06:04:30Z</dcterms:modified>
  <cp:revision>1</cp:revision>
  <dc:title>HeavyHub.pptx</dc:title>
</cp:coreProperties>
</file>